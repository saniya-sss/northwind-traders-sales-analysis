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15"/>
  </p:notesMasterIdLst>
  <p:sldIdLst>
    <p:sldId id="256" r:id="rId2"/>
    <p:sldId id="257" r:id="rId3"/>
    <p:sldId id="280" r:id="rId4"/>
    <p:sldId id="258" r:id="rId5"/>
    <p:sldId id="275" r:id="rId6"/>
    <p:sldId id="259" r:id="rId7"/>
    <p:sldId id="266" r:id="rId8"/>
    <p:sldId id="276" r:id="rId9"/>
    <p:sldId id="277" r:id="rId10"/>
    <p:sldId id="278" r:id="rId11"/>
    <p:sldId id="282" r:id="rId12"/>
    <p:sldId id="281" r:id="rId13"/>
    <p:sldId id="27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A60F5A-9BA1-465B-A0B2-620CDD93B668}"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3D4FEBE7-ABB1-45F2-92EF-4364D8B6CFF0}">
      <dgm:prSet custT="1"/>
      <dgm:spPr/>
      <dgm:t>
        <a:bodyPr/>
        <a:lstStyle/>
        <a:p>
          <a:r>
            <a:rPr lang="en-US" sz="2800" dirty="0"/>
            <a:t>We have 8 CSV files </a:t>
          </a:r>
        </a:p>
      </dgm:t>
    </dgm:pt>
    <dgm:pt modelId="{36828EC2-8C22-45AD-BD1A-A677FE0B993B}" type="parTrans" cxnId="{D8ED7997-4D0A-4A35-95C7-02E31F3B1534}">
      <dgm:prSet/>
      <dgm:spPr/>
      <dgm:t>
        <a:bodyPr/>
        <a:lstStyle/>
        <a:p>
          <a:endParaRPr lang="en-US"/>
        </a:p>
      </dgm:t>
    </dgm:pt>
    <dgm:pt modelId="{437E91B8-489D-4B47-8B36-185B90248205}" type="sibTrans" cxnId="{D8ED7997-4D0A-4A35-95C7-02E31F3B1534}">
      <dgm:prSet/>
      <dgm:spPr/>
      <dgm:t>
        <a:bodyPr/>
        <a:lstStyle/>
        <a:p>
          <a:endParaRPr lang="en-US"/>
        </a:p>
      </dgm:t>
    </dgm:pt>
    <dgm:pt modelId="{696059DE-F3A0-4A20-ADC3-A830C76F7D79}">
      <dgm:prSet custT="1"/>
      <dgm:spPr/>
      <dgm:t>
        <a:bodyPr/>
        <a:lstStyle/>
        <a:p>
          <a:r>
            <a:rPr lang="en-US" sz="1600" b="1" dirty="0"/>
            <a:t>Customers</a:t>
          </a:r>
          <a:r>
            <a:rPr lang="en-US" sz="1600" dirty="0"/>
            <a:t>-This table stores information about the company's customers and their basic information.</a:t>
          </a:r>
        </a:p>
      </dgm:t>
    </dgm:pt>
    <dgm:pt modelId="{1ED7EA97-D317-4C53-821F-9306D3739011}" type="parTrans" cxnId="{B2D7C741-6DEF-4072-A9CC-EAB72A24EBDA}">
      <dgm:prSet/>
      <dgm:spPr/>
      <dgm:t>
        <a:bodyPr/>
        <a:lstStyle/>
        <a:p>
          <a:endParaRPr lang="en-US"/>
        </a:p>
      </dgm:t>
    </dgm:pt>
    <dgm:pt modelId="{01D8471D-180F-4542-8BB9-7014CDA2F8A7}" type="sibTrans" cxnId="{B2D7C741-6DEF-4072-A9CC-EAB72A24EBDA}">
      <dgm:prSet/>
      <dgm:spPr/>
      <dgm:t>
        <a:bodyPr/>
        <a:lstStyle/>
        <a:p>
          <a:endParaRPr lang="en-US"/>
        </a:p>
      </dgm:t>
    </dgm:pt>
    <dgm:pt modelId="{76D1BB95-9D44-4439-AC32-541E00996D94}">
      <dgm:prSet custT="1"/>
      <dgm:spPr/>
      <dgm:t>
        <a:bodyPr/>
        <a:lstStyle/>
        <a:p>
          <a:r>
            <a:rPr lang="en-US" sz="1600" b="1" dirty="0"/>
            <a:t>Orders</a:t>
          </a:r>
          <a:r>
            <a:rPr lang="en-US" sz="1600" dirty="0"/>
            <a:t>-This table stores information about the Customer’s orders. It includes order ID, customer ID, employee ID, order date, shipped </a:t>
          </a:r>
          <a:r>
            <a:rPr lang="en-US" sz="1600" dirty="0" err="1"/>
            <a:t>date,shipping</a:t>
          </a:r>
          <a:r>
            <a:rPr lang="en-US" sz="1600" dirty="0"/>
            <a:t> address </a:t>
          </a:r>
          <a:r>
            <a:rPr lang="en-US" sz="1600" dirty="0" err="1"/>
            <a:t>etc</a:t>
          </a:r>
          <a:endParaRPr lang="en-US" sz="1600" dirty="0"/>
        </a:p>
      </dgm:t>
    </dgm:pt>
    <dgm:pt modelId="{A311B889-7DF0-4E56-B4B1-562147ED984F}" type="parTrans" cxnId="{12BA2D1C-57C5-4C4A-B502-DCD6827B6E90}">
      <dgm:prSet/>
      <dgm:spPr/>
      <dgm:t>
        <a:bodyPr/>
        <a:lstStyle/>
        <a:p>
          <a:endParaRPr lang="en-US"/>
        </a:p>
      </dgm:t>
    </dgm:pt>
    <dgm:pt modelId="{3085D9BA-D764-428F-9A17-DE03679986F6}" type="sibTrans" cxnId="{12BA2D1C-57C5-4C4A-B502-DCD6827B6E90}">
      <dgm:prSet/>
      <dgm:spPr/>
      <dgm:t>
        <a:bodyPr/>
        <a:lstStyle/>
        <a:p>
          <a:endParaRPr lang="en-US"/>
        </a:p>
      </dgm:t>
    </dgm:pt>
    <dgm:pt modelId="{8269D7CC-6474-475C-AE9B-6731C90E305A}">
      <dgm:prSet custT="1"/>
      <dgm:spPr/>
      <dgm:t>
        <a:bodyPr/>
        <a:lstStyle/>
        <a:p>
          <a:r>
            <a:rPr lang="en-US" sz="1600" b="1" dirty="0" err="1"/>
            <a:t>Orderdetails</a:t>
          </a:r>
          <a:r>
            <a:rPr lang="en-US" sz="1600" dirty="0"/>
            <a:t>-This table stores detailed information about the items within each order.</a:t>
          </a:r>
        </a:p>
      </dgm:t>
    </dgm:pt>
    <dgm:pt modelId="{8C009CCB-9BCA-472F-B596-5C81EC64C592}" type="parTrans" cxnId="{58208520-6A8A-4C52-AC98-36882ECBACB5}">
      <dgm:prSet/>
      <dgm:spPr/>
      <dgm:t>
        <a:bodyPr/>
        <a:lstStyle/>
        <a:p>
          <a:endParaRPr lang="en-US"/>
        </a:p>
      </dgm:t>
    </dgm:pt>
    <dgm:pt modelId="{E2349D54-370C-48E8-92E5-2B9FF5882E34}" type="sibTrans" cxnId="{58208520-6A8A-4C52-AC98-36882ECBACB5}">
      <dgm:prSet/>
      <dgm:spPr/>
      <dgm:t>
        <a:bodyPr/>
        <a:lstStyle/>
        <a:p>
          <a:endParaRPr lang="en-US"/>
        </a:p>
      </dgm:t>
    </dgm:pt>
    <dgm:pt modelId="{F1CF2A7B-EC82-41CA-A76B-AE90FCD83399}">
      <dgm:prSet custT="1"/>
      <dgm:spPr/>
      <dgm:t>
        <a:bodyPr/>
        <a:lstStyle/>
        <a:p>
          <a:r>
            <a:rPr lang="en-US" sz="1600" b="1" dirty="0"/>
            <a:t>Suppliers</a:t>
          </a:r>
          <a:r>
            <a:rPr lang="en-US" sz="1600" dirty="0"/>
            <a:t>-This table stores information about the suppliers ,their names ,</a:t>
          </a:r>
          <a:r>
            <a:rPr lang="en-US" sz="1600" err="1"/>
            <a:t>ids</a:t>
          </a:r>
          <a:r>
            <a:rPr lang="en-US" sz="1600"/>
            <a:t>, adress</a:t>
          </a:r>
          <a:endParaRPr lang="en-US" sz="1600" dirty="0"/>
        </a:p>
      </dgm:t>
    </dgm:pt>
    <dgm:pt modelId="{2BF0BEBD-F6FF-47F2-8F0E-C1E796A1C872}" type="parTrans" cxnId="{81F01D4D-8EF2-4B4D-8F65-0D1DFC86B8BD}">
      <dgm:prSet/>
      <dgm:spPr/>
      <dgm:t>
        <a:bodyPr/>
        <a:lstStyle/>
        <a:p>
          <a:endParaRPr lang="en-US"/>
        </a:p>
      </dgm:t>
    </dgm:pt>
    <dgm:pt modelId="{FE224A0E-18FA-4FD1-BCE5-CBFC5EBE23C6}" type="sibTrans" cxnId="{81F01D4D-8EF2-4B4D-8F65-0D1DFC86B8BD}">
      <dgm:prSet/>
      <dgm:spPr/>
      <dgm:t>
        <a:bodyPr/>
        <a:lstStyle/>
        <a:p>
          <a:endParaRPr lang="en-US"/>
        </a:p>
      </dgm:t>
    </dgm:pt>
    <dgm:pt modelId="{D6F246B9-8AF9-4E3A-9A85-427C8F856BA8}">
      <dgm:prSet custT="1"/>
      <dgm:spPr/>
      <dgm:t>
        <a:bodyPr/>
        <a:lstStyle/>
        <a:p>
          <a:r>
            <a:rPr lang="en-US" sz="1600" b="1" dirty="0"/>
            <a:t>Categories</a:t>
          </a:r>
          <a:r>
            <a:rPr lang="en-US" sz="1600" dirty="0"/>
            <a:t>-This table stores information about the product categories.  fields for category ID, category name</a:t>
          </a:r>
        </a:p>
      </dgm:t>
    </dgm:pt>
    <dgm:pt modelId="{0776AEA4-D3E2-4B0A-A9B4-BDE219020913}" type="parTrans" cxnId="{56027A85-E913-4DAB-B618-C56C86D7696C}">
      <dgm:prSet/>
      <dgm:spPr/>
      <dgm:t>
        <a:bodyPr/>
        <a:lstStyle/>
        <a:p>
          <a:endParaRPr lang="en-US"/>
        </a:p>
      </dgm:t>
    </dgm:pt>
    <dgm:pt modelId="{693321EF-D1DB-412A-AE18-9C2119DC938E}" type="sibTrans" cxnId="{56027A85-E913-4DAB-B618-C56C86D7696C}">
      <dgm:prSet/>
      <dgm:spPr/>
      <dgm:t>
        <a:bodyPr/>
        <a:lstStyle/>
        <a:p>
          <a:endParaRPr lang="en-US"/>
        </a:p>
      </dgm:t>
    </dgm:pt>
    <dgm:pt modelId="{E58C41EF-45D9-417C-AEF7-8CD62C8CFC52}">
      <dgm:prSet custT="1"/>
      <dgm:spPr/>
      <dgm:t>
        <a:bodyPr/>
        <a:lstStyle/>
        <a:p>
          <a:r>
            <a:rPr lang="en-US" sz="1600" b="1" dirty="0"/>
            <a:t>Shippers</a:t>
          </a:r>
          <a:r>
            <a:rPr lang="en-US" sz="1600" dirty="0"/>
            <a:t>-This table stores information about different shipping companies</a:t>
          </a:r>
        </a:p>
      </dgm:t>
    </dgm:pt>
    <dgm:pt modelId="{93D877B1-11A5-4F3A-AC9A-C3354FBF1E7C}" type="parTrans" cxnId="{D94F3340-8E04-47E9-B58F-4B8EA61C59B5}">
      <dgm:prSet/>
      <dgm:spPr/>
      <dgm:t>
        <a:bodyPr/>
        <a:lstStyle/>
        <a:p>
          <a:endParaRPr lang="en-US"/>
        </a:p>
      </dgm:t>
    </dgm:pt>
    <dgm:pt modelId="{EE0C515C-9277-4390-AE5F-9169BB3DB66B}" type="sibTrans" cxnId="{D94F3340-8E04-47E9-B58F-4B8EA61C59B5}">
      <dgm:prSet/>
      <dgm:spPr/>
      <dgm:t>
        <a:bodyPr/>
        <a:lstStyle/>
        <a:p>
          <a:endParaRPr lang="en-US"/>
        </a:p>
      </dgm:t>
    </dgm:pt>
    <dgm:pt modelId="{4D9A019E-B929-4899-8D5D-FDC98E4A938B}">
      <dgm:prSet custT="1"/>
      <dgm:spPr/>
      <dgm:t>
        <a:bodyPr/>
        <a:lstStyle/>
        <a:p>
          <a:r>
            <a:rPr lang="en-US" sz="1600" b="1" dirty="0"/>
            <a:t>Products</a:t>
          </a:r>
          <a:r>
            <a:rPr lang="en-US" sz="1600" dirty="0"/>
            <a:t>-This table stores information about the company's products and their details</a:t>
          </a:r>
        </a:p>
      </dgm:t>
    </dgm:pt>
    <dgm:pt modelId="{5C7FF7FF-355B-46F0-BAA2-142EBC0006B6}" type="parTrans" cxnId="{DAA77F57-44A2-4454-B66E-5819FA9F3FE4}">
      <dgm:prSet/>
      <dgm:spPr/>
      <dgm:t>
        <a:bodyPr/>
        <a:lstStyle/>
        <a:p>
          <a:endParaRPr lang="en-US"/>
        </a:p>
      </dgm:t>
    </dgm:pt>
    <dgm:pt modelId="{CBD1F1B7-06A8-43C8-8EFE-93630FF613B2}" type="sibTrans" cxnId="{DAA77F57-44A2-4454-B66E-5819FA9F3FE4}">
      <dgm:prSet/>
      <dgm:spPr/>
      <dgm:t>
        <a:bodyPr/>
        <a:lstStyle/>
        <a:p>
          <a:endParaRPr lang="en-US"/>
        </a:p>
      </dgm:t>
    </dgm:pt>
    <dgm:pt modelId="{8DAB2CB6-8A47-4EE9-9B0B-B9F01A8DC598}">
      <dgm:prSet custT="1"/>
      <dgm:spPr/>
      <dgm:t>
        <a:bodyPr/>
        <a:lstStyle/>
        <a:p>
          <a:r>
            <a:rPr lang="en-US" sz="1600" b="1" dirty="0"/>
            <a:t>Employees</a:t>
          </a:r>
          <a:r>
            <a:rPr lang="en-US" sz="1600" dirty="0"/>
            <a:t>-This table stores information about the company's employees and their details</a:t>
          </a:r>
        </a:p>
      </dgm:t>
    </dgm:pt>
    <dgm:pt modelId="{4BCCD2C0-0994-4F68-8B77-EAD74FA344A1}" type="parTrans" cxnId="{E912ED24-8245-4E59-A139-C063F39002DF}">
      <dgm:prSet/>
      <dgm:spPr/>
      <dgm:t>
        <a:bodyPr/>
        <a:lstStyle/>
        <a:p>
          <a:endParaRPr lang="en-US"/>
        </a:p>
      </dgm:t>
    </dgm:pt>
    <dgm:pt modelId="{5F968B52-38FA-4FB6-B0A3-D2878BCB2FD0}" type="sibTrans" cxnId="{E912ED24-8245-4E59-A139-C063F39002DF}">
      <dgm:prSet/>
      <dgm:spPr/>
      <dgm:t>
        <a:bodyPr/>
        <a:lstStyle/>
        <a:p>
          <a:endParaRPr lang="en-US"/>
        </a:p>
      </dgm:t>
    </dgm:pt>
    <dgm:pt modelId="{19B7DB0E-F1D8-45F7-9CE0-5A9B55C45BB3}" type="pres">
      <dgm:prSet presAssocID="{B0A60F5A-9BA1-465B-A0B2-620CDD93B668}" presName="vert0" presStyleCnt="0">
        <dgm:presLayoutVars>
          <dgm:dir/>
          <dgm:animOne val="branch"/>
          <dgm:animLvl val="lvl"/>
        </dgm:presLayoutVars>
      </dgm:prSet>
      <dgm:spPr/>
    </dgm:pt>
    <dgm:pt modelId="{F0AF342F-8658-4EDB-917E-692848DE92D4}" type="pres">
      <dgm:prSet presAssocID="{3D4FEBE7-ABB1-45F2-92EF-4364D8B6CFF0}" presName="thickLine" presStyleLbl="alignNode1" presStyleIdx="0" presStyleCnt="1"/>
      <dgm:spPr/>
    </dgm:pt>
    <dgm:pt modelId="{66E36804-0E93-49AB-9A19-DD8644B23A29}" type="pres">
      <dgm:prSet presAssocID="{3D4FEBE7-ABB1-45F2-92EF-4364D8B6CFF0}" presName="horz1" presStyleCnt="0"/>
      <dgm:spPr/>
    </dgm:pt>
    <dgm:pt modelId="{A8AC2479-0169-4AE6-8340-1AD77CC56BAD}" type="pres">
      <dgm:prSet presAssocID="{3D4FEBE7-ABB1-45F2-92EF-4364D8B6CFF0}" presName="tx1" presStyleLbl="revTx" presStyleIdx="0" presStyleCnt="9"/>
      <dgm:spPr/>
    </dgm:pt>
    <dgm:pt modelId="{8B8D3C1F-0CD1-4B4F-BCC6-C785B907AE14}" type="pres">
      <dgm:prSet presAssocID="{3D4FEBE7-ABB1-45F2-92EF-4364D8B6CFF0}" presName="vert1" presStyleCnt="0"/>
      <dgm:spPr/>
    </dgm:pt>
    <dgm:pt modelId="{F9AFB3C1-BDEB-47EF-BF8E-3B20E9630D39}" type="pres">
      <dgm:prSet presAssocID="{696059DE-F3A0-4A20-ADC3-A830C76F7D79}" presName="vertSpace2a" presStyleCnt="0"/>
      <dgm:spPr/>
    </dgm:pt>
    <dgm:pt modelId="{BE895821-81E8-4718-BC5A-92B1B076FC41}" type="pres">
      <dgm:prSet presAssocID="{696059DE-F3A0-4A20-ADC3-A830C76F7D79}" presName="horz2" presStyleCnt="0"/>
      <dgm:spPr/>
    </dgm:pt>
    <dgm:pt modelId="{344E556F-969B-4F1B-AAAC-534E634E905D}" type="pres">
      <dgm:prSet presAssocID="{696059DE-F3A0-4A20-ADC3-A830C76F7D79}" presName="horzSpace2" presStyleCnt="0"/>
      <dgm:spPr/>
    </dgm:pt>
    <dgm:pt modelId="{65C5C80A-F252-4BFF-99CC-5D42C7AD1C2B}" type="pres">
      <dgm:prSet presAssocID="{696059DE-F3A0-4A20-ADC3-A830C76F7D79}" presName="tx2" presStyleLbl="revTx" presStyleIdx="1" presStyleCnt="9"/>
      <dgm:spPr/>
    </dgm:pt>
    <dgm:pt modelId="{2ECE0DC2-22C1-4B5D-BD0B-E52FCB8D29AA}" type="pres">
      <dgm:prSet presAssocID="{696059DE-F3A0-4A20-ADC3-A830C76F7D79}" presName="vert2" presStyleCnt="0"/>
      <dgm:spPr/>
    </dgm:pt>
    <dgm:pt modelId="{C50BA2D1-3908-46BA-A7B4-F0E7E32F3791}" type="pres">
      <dgm:prSet presAssocID="{696059DE-F3A0-4A20-ADC3-A830C76F7D79}" presName="thinLine2b" presStyleLbl="callout" presStyleIdx="0" presStyleCnt="8"/>
      <dgm:spPr/>
    </dgm:pt>
    <dgm:pt modelId="{3921536C-2978-4597-BB6F-9A925A5DBCAE}" type="pres">
      <dgm:prSet presAssocID="{696059DE-F3A0-4A20-ADC3-A830C76F7D79}" presName="vertSpace2b" presStyleCnt="0"/>
      <dgm:spPr/>
    </dgm:pt>
    <dgm:pt modelId="{7FBBEAC4-4731-4FA9-992C-D9CE1A1AD056}" type="pres">
      <dgm:prSet presAssocID="{76D1BB95-9D44-4439-AC32-541E00996D94}" presName="horz2" presStyleCnt="0"/>
      <dgm:spPr/>
    </dgm:pt>
    <dgm:pt modelId="{F59DC794-FCDD-4974-9FAE-DDFAA31D7B81}" type="pres">
      <dgm:prSet presAssocID="{76D1BB95-9D44-4439-AC32-541E00996D94}" presName="horzSpace2" presStyleCnt="0"/>
      <dgm:spPr/>
    </dgm:pt>
    <dgm:pt modelId="{B8CEDBF1-7F1B-4A2E-ADD8-D3CD36E91ECE}" type="pres">
      <dgm:prSet presAssocID="{76D1BB95-9D44-4439-AC32-541E00996D94}" presName="tx2" presStyleLbl="revTx" presStyleIdx="2" presStyleCnt="9"/>
      <dgm:spPr/>
    </dgm:pt>
    <dgm:pt modelId="{542ED9B7-450F-4247-9C72-FAA88B6AAAAE}" type="pres">
      <dgm:prSet presAssocID="{76D1BB95-9D44-4439-AC32-541E00996D94}" presName="vert2" presStyleCnt="0"/>
      <dgm:spPr/>
    </dgm:pt>
    <dgm:pt modelId="{9B025297-380E-4E03-8EBA-6455F8DD2F91}" type="pres">
      <dgm:prSet presAssocID="{76D1BB95-9D44-4439-AC32-541E00996D94}" presName="thinLine2b" presStyleLbl="callout" presStyleIdx="1" presStyleCnt="8"/>
      <dgm:spPr/>
    </dgm:pt>
    <dgm:pt modelId="{3032C7EE-0ADF-4DB7-AE4F-31A2C8B9C5E1}" type="pres">
      <dgm:prSet presAssocID="{76D1BB95-9D44-4439-AC32-541E00996D94}" presName="vertSpace2b" presStyleCnt="0"/>
      <dgm:spPr/>
    </dgm:pt>
    <dgm:pt modelId="{7ABEDC2E-6AC3-430A-A5A6-6CA16F17D097}" type="pres">
      <dgm:prSet presAssocID="{8269D7CC-6474-475C-AE9B-6731C90E305A}" presName="horz2" presStyleCnt="0"/>
      <dgm:spPr/>
    </dgm:pt>
    <dgm:pt modelId="{38E8B285-E030-46B2-86F0-9205D0E5F91A}" type="pres">
      <dgm:prSet presAssocID="{8269D7CC-6474-475C-AE9B-6731C90E305A}" presName="horzSpace2" presStyleCnt="0"/>
      <dgm:spPr/>
    </dgm:pt>
    <dgm:pt modelId="{881C57BC-39D6-4679-BD1C-E824C9F47976}" type="pres">
      <dgm:prSet presAssocID="{8269D7CC-6474-475C-AE9B-6731C90E305A}" presName="tx2" presStyleLbl="revTx" presStyleIdx="3" presStyleCnt="9"/>
      <dgm:spPr/>
    </dgm:pt>
    <dgm:pt modelId="{CFF73D9D-46A5-48FC-9107-E5495482A324}" type="pres">
      <dgm:prSet presAssocID="{8269D7CC-6474-475C-AE9B-6731C90E305A}" presName="vert2" presStyleCnt="0"/>
      <dgm:spPr/>
    </dgm:pt>
    <dgm:pt modelId="{4C510D58-1383-4036-B23B-3F058AF7BA3D}" type="pres">
      <dgm:prSet presAssocID="{8269D7CC-6474-475C-AE9B-6731C90E305A}" presName="thinLine2b" presStyleLbl="callout" presStyleIdx="2" presStyleCnt="8"/>
      <dgm:spPr/>
    </dgm:pt>
    <dgm:pt modelId="{D75B75D3-54C0-4C17-94DF-05603FBB3309}" type="pres">
      <dgm:prSet presAssocID="{8269D7CC-6474-475C-AE9B-6731C90E305A}" presName="vertSpace2b" presStyleCnt="0"/>
      <dgm:spPr/>
    </dgm:pt>
    <dgm:pt modelId="{5FA470E9-016D-4D43-B22B-1E868DB31D1D}" type="pres">
      <dgm:prSet presAssocID="{F1CF2A7B-EC82-41CA-A76B-AE90FCD83399}" presName="horz2" presStyleCnt="0"/>
      <dgm:spPr/>
    </dgm:pt>
    <dgm:pt modelId="{21DA59DA-5E34-492A-9F8E-59A2403196FC}" type="pres">
      <dgm:prSet presAssocID="{F1CF2A7B-EC82-41CA-A76B-AE90FCD83399}" presName="horzSpace2" presStyleCnt="0"/>
      <dgm:spPr/>
    </dgm:pt>
    <dgm:pt modelId="{FF7FB06B-6FE6-478A-BFAB-079A0D67466E}" type="pres">
      <dgm:prSet presAssocID="{F1CF2A7B-EC82-41CA-A76B-AE90FCD83399}" presName="tx2" presStyleLbl="revTx" presStyleIdx="4" presStyleCnt="9"/>
      <dgm:spPr/>
    </dgm:pt>
    <dgm:pt modelId="{734CBDF5-3CBD-4594-B791-12D23F81D1E0}" type="pres">
      <dgm:prSet presAssocID="{F1CF2A7B-EC82-41CA-A76B-AE90FCD83399}" presName="vert2" presStyleCnt="0"/>
      <dgm:spPr/>
    </dgm:pt>
    <dgm:pt modelId="{9A8F4B12-117E-4C8E-9001-F0875C686A6F}" type="pres">
      <dgm:prSet presAssocID="{F1CF2A7B-EC82-41CA-A76B-AE90FCD83399}" presName="thinLine2b" presStyleLbl="callout" presStyleIdx="3" presStyleCnt="8"/>
      <dgm:spPr/>
    </dgm:pt>
    <dgm:pt modelId="{A4EF7438-956A-4325-B2ED-2A81B5DC9594}" type="pres">
      <dgm:prSet presAssocID="{F1CF2A7B-EC82-41CA-A76B-AE90FCD83399}" presName="vertSpace2b" presStyleCnt="0"/>
      <dgm:spPr/>
    </dgm:pt>
    <dgm:pt modelId="{643DF564-7B80-4BB4-8CE1-5104873C7ABF}" type="pres">
      <dgm:prSet presAssocID="{D6F246B9-8AF9-4E3A-9A85-427C8F856BA8}" presName="horz2" presStyleCnt="0"/>
      <dgm:spPr/>
    </dgm:pt>
    <dgm:pt modelId="{CDA6DF59-92C9-4D2E-A25E-747A2F86D766}" type="pres">
      <dgm:prSet presAssocID="{D6F246B9-8AF9-4E3A-9A85-427C8F856BA8}" presName="horzSpace2" presStyleCnt="0"/>
      <dgm:spPr/>
    </dgm:pt>
    <dgm:pt modelId="{7D5F4FBF-823D-4116-9365-4D3A25A3D2A7}" type="pres">
      <dgm:prSet presAssocID="{D6F246B9-8AF9-4E3A-9A85-427C8F856BA8}" presName="tx2" presStyleLbl="revTx" presStyleIdx="5" presStyleCnt="9"/>
      <dgm:spPr/>
    </dgm:pt>
    <dgm:pt modelId="{0D6FD152-358C-417D-BD8A-7F2B95D8E3C6}" type="pres">
      <dgm:prSet presAssocID="{D6F246B9-8AF9-4E3A-9A85-427C8F856BA8}" presName="vert2" presStyleCnt="0"/>
      <dgm:spPr/>
    </dgm:pt>
    <dgm:pt modelId="{1E52AD30-70F7-4B40-AE13-BAC503D10EAE}" type="pres">
      <dgm:prSet presAssocID="{D6F246B9-8AF9-4E3A-9A85-427C8F856BA8}" presName="thinLine2b" presStyleLbl="callout" presStyleIdx="4" presStyleCnt="8"/>
      <dgm:spPr/>
    </dgm:pt>
    <dgm:pt modelId="{C5DB1EFF-F674-4B26-A8AF-7770402184FB}" type="pres">
      <dgm:prSet presAssocID="{D6F246B9-8AF9-4E3A-9A85-427C8F856BA8}" presName="vertSpace2b" presStyleCnt="0"/>
      <dgm:spPr/>
    </dgm:pt>
    <dgm:pt modelId="{07B83E42-BDB1-46AE-8CEB-4DCAD21C249D}" type="pres">
      <dgm:prSet presAssocID="{E58C41EF-45D9-417C-AEF7-8CD62C8CFC52}" presName="horz2" presStyleCnt="0"/>
      <dgm:spPr/>
    </dgm:pt>
    <dgm:pt modelId="{81A0BBAE-84C4-454D-B8CC-2AB7DC61A9DE}" type="pres">
      <dgm:prSet presAssocID="{E58C41EF-45D9-417C-AEF7-8CD62C8CFC52}" presName="horzSpace2" presStyleCnt="0"/>
      <dgm:spPr/>
    </dgm:pt>
    <dgm:pt modelId="{094ADCA5-B39C-4DF4-B813-0D7BAC285191}" type="pres">
      <dgm:prSet presAssocID="{E58C41EF-45D9-417C-AEF7-8CD62C8CFC52}" presName="tx2" presStyleLbl="revTx" presStyleIdx="6" presStyleCnt="9"/>
      <dgm:spPr/>
    </dgm:pt>
    <dgm:pt modelId="{67539599-A50A-4E99-8ACA-DE6D5534E844}" type="pres">
      <dgm:prSet presAssocID="{E58C41EF-45D9-417C-AEF7-8CD62C8CFC52}" presName="vert2" presStyleCnt="0"/>
      <dgm:spPr/>
    </dgm:pt>
    <dgm:pt modelId="{F7E20FF9-D729-4E50-997C-F865E0618C36}" type="pres">
      <dgm:prSet presAssocID="{E58C41EF-45D9-417C-AEF7-8CD62C8CFC52}" presName="thinLine2b" presStyleLbl="callout" presStyleIdx="5" presStyleCnt="8"/>
      <dgm:spPr/>
    </dgm:pt>
    <dgm:pt modelId="{FAE3FAA8-8A31-485D-B939-254F42CD7FCC}" type="pres">
      <dgm:prSet presAssocID="{E58C41EF-45D9-417C-AEF7-8CD62C8CFC52}" presName="vertSpace2b" presStyleCnt="0"/>
      <dgm:spPr/>
    </dgm:pt>
    <dgm:pt modelId="{DFB6DF4D-C0B9-42B4-9593-902206726E57}" type="pres">
      <dgm:prSet presAssocID="{4D9A019E-B929-4899-8D5D-FDC98E4A938B}" presName="horz2" presStyleCnt="0"/>
      <dgm:spPr/>
    </dgm:pt>
    <dgm:pt modelId="{AB611D46-48E4-45C9-9B37-91257F8BD9DC}" type="pres">
      <dgm:prSet presAssocID="{4D9A019E-B929-4899-8D5D-FDC98E4A938B}" presName="horzSpace2" presStyleCnt="0"/>
      <dgm:spPr/>
    </dgm:pt>
    <dgm:pt modelId="{1DCA874C-33DC-42F1-AF26-36D48373E913}" type="pres">
      <dgm:prSet presAssocID="{4D9A019E-B929-4899-8D5D-FDC98E4A938B}" presName="tx2" presStyleLbl="revTx" presStyleIdx="7" presStyleCnt="9"/>
      <dgm:spPr/>
    </dgm:pt>
    <dgm:pt modelId="{62677270-205C-49DB-9683-66ED65CE16B1}" type="pres">
      <dgm:prSet presAssocID="{4D9A019E-B929-4899-8D5D-FDC98E4A938B}" presName="vert2" presStyleCnt="0"/>
      <dgm:spPr/>
    </dgm:pt>
    <dgm:pt modelId="{4A7CF4AD-0937-460E-A9CD-EA84B5F02C02}" type="pres">
      <dgm:prSet presAssocID="{4D9A019E-B929-4899-8D5D-FDC98E4A938B}" presName="thinLine2b" presStyleLbl="callout" presStyleIdx="6" presStyleCnt="8"/>
      <dgm:spPr/>
    </dgm:pt>
    <dgm:pt modelId="{4DA73763-02B4-4A7D-8BF9-6666A8FA5DD7}" type="pres">
      <dgm:prSet presAssocID="{4D9A019E-B929-4899-8D5D-FDC98E4A938B}" presName="vertSpace2b" presStyleCnt="0"/>
      <dgm:spPr/>
    </dgm:pt>
    <dgm:pt modelId="{CA8D02E9-D4C8-4968-BAB1-43D33F469B5C}" type="pres">
      <dgm:prSet presAssocID="{8DAB2CB6-8A47-4EE9-9B0B-B9F01A8DC598}" presName="horz2" presStyleCnt="0"/>
      <dgm:spPr/>
    </dgm:pt>
    <dgm:pt modelId="{4F2AC90C-5CB8-432A-B3F7-B35A2C0BAEA1}" type="pres">
      <dgm:prSet presAssocID="{8DAB2CB6-8A47-4EE9-9B0B-B9F01A8DC598}" presName="horzSpace2" presStyleCnt="0"/>
      <dgm:spPr/>
    </dgm:pt>
    <dgm:pt modelId="{1EE81796-126B-4EA4-BCF6-5220CC397C67}" type="pres">
      <dgm:prSet presAssocID="{8DAB2CB6-8A47-4EE9-9B0B-B9F01A8DC598}" presName="tx2" presStyleLbl="revTx" presStyleIdx="8" presStyleCnt="9"/>
      <dgm:spPr/>
    </dgm:pt>
    <dgm:pt modelId="{9F19FC08-611D-41D4-9B9C-ACB46A0D4C6D}" type="pres">
      <dgm:prSet presAssocID="{8DAB2CB6-8A47-4EE9-9B0B-B9F01A8DC598}" presName="vert2" presStyleCnt="0"/>
      <dgm:spPr/>
    </dgm:pt>
    <dgm:pt modelId="{620843C3-CE13-4A01-AAEE-62230E463D63}" type="pres">
      <dgm:prSet presAssocID="{8DAB2CB6-8A47-4EE9-9B0B-B9F01A8DC598}" presName="thinLine2b" presStyleLbl="callout" presStyleIdx="7" presStyleCnt="8"/>
      <dgm:spPr/>
    </dgm:pt>
    <dgm:pt modelId="{271539BB-8553-4582-A9D8-0E0E0B16DFAF}" type="pres">
      <dgm:prSet presAssocID="{8DAB2CB6-8A47-4EE9-9B0B-B9F01A8DC598}" presName="vertSpace2b" presStyleCnt="0"/>
      <dgm:spPr/>
    </dgm:pt>
  </dgm:ptLst>
  <dgm:cxnLst>
    <dgm:cxn modelId="{12BA2D1C-57C5-4C4A-B502-DCD6827B6E90}" srcId="{3D4FEBE7-ABB1-45F2-92EF-4364D8B6CFF0}" destId="{76D1BB95-9D44-4439-AC32-541E00996D94}" srcOrd="1" destOrd="0" parTransId="{A311B889-7DF0-4E56-B4B1-562147ED984F}" sibTransId="{3085D9BA-D764-428F-9A17-DE03679986F6}"/>
    <dgm:cxn modelId="{58208520-6A8A-4C52-AC98-36882ECBACB5}" srcId="{3D4FEBE7-ABB1-45F2-92EF-4364D8B6CFF0}" destId="{8269D7CC-6474-475C-AE9B-6731C90E305A}" srcOrd="2" destOrd="0" parTransId="{8C009CCB-9BCA-472F-B596-5C81EC64C592}" sibTransId="{E2349D54-370C-48E8-92E5-2B9FF5882E34}"/>
    <dgm:cxn modelId="{1DBA1122-6410-4B09-8A31-0F9AC25FBA32}" type="presOf" srcId="{8DAB2CB6-8A47-4EE9-9B0B-B9F01A8DC598}" destId="{1EE81796-126B-4EA4-BCF6-5220CC397C67}" srcOrd="0" destOrd="0" presId="urn:microsoft.com/office/officeart/2008/layout/LinedList"/>
    <dgm:cxn modelId="{E912ED24-8245-4E59-A139-C063F39002DF}" srcId="{3D4FEBE7-ABB1-45F2-92EF-4364D8B6CFF0}" destId="{8DAB2CB6-8A47-4EE9-9B0B-B9F01A8DC598}" srcOrd="7" destOrd="0" parTransId="{4BCCD2C0-0994-4F68-8B77-EAD74FA344A1}" sibTransId="{5F968B52-38FA-4FB6-B0A3-D2878BCB2FD0}"/>
    <dgm:cxn modelId="{D94F3340-8E04-47E9-B58F-4B8EA61C59B5}" srcId="{3D4FEBE7-ABB1-45F2-92EF-4364D8B6CFF0}" destId="{E58C41EF-45D9-417C-AEF7-8CD62C8CFC52}" srcOrd="5" destOrd="0" parTransId="{93D877B1-11A5-4F3A-AC9A-C3354FBF1E7C}" sibTransId="{EE0C515C-9277-4390-AE5F-9169BB3DB66B}"/>
    <dgm:cxn modelId="{B2D7C741-6DEF-4072-A9CC-EAB72A24EBDA}" srcId="{3D4FEBE7-ABB1-45F2-92EF-4364D8B6CFF0}" destId="{696059DE-F3A0-4A20-ADC3-A830C76F7D79}" srcOrd="0" destOrd="0" parTransId="{1ED7EA97-D317-4C53-821F-9306D3739011}" sibTransId="{01D8471D-180F-4542-8BB9-7014CDA2F8A7}"/>
    <dgm:cxn modelId="{43D15047-917F-4DA0-952C-70AD2DDD013B}" type="presOf" srcId="{F1CF2A7B-EC82-41CA-A76B-AE90FCD83399}" destId="{FF7FB06B-6FE6-478A-BFAB-079A0D67466E}" srcOrd="0" destOrd="0" presId="urn:microsoft.com/office/officeart/2008/layout/LinedList"/>
    <dgm:cxn modelId="{10AE0A48-EC88-4609-BF5B-627B6B89A985}" type="presOf" srcId="{76D1BB95-9D44-4439-AC32-541E00996D94}" destId="{B8CEDBF1-7F1B-4A2E-ADD8-D3CD36E91ECE}" srcOrd="0" destOrd="0" presId="urn:microsoft.com/office/officeart/2008/layout/LinedList"/>
    <dgm:cxn modelId="{81F01D4D-8EF2-4B4D-8F65-0D1DFC86B8BD}" srcId="{3D4FEBE7-ABB1-45F2-92EF-4364D8B6CFF0}" destId="{F1CF2A7B-EC82-41CA-A76B-AE90FCD83399}" srcOrd="3" destOrd="0" parTransId="{2BF0BEBD-F6FF-47F2-8F0E-C1E796A1C872}" sibTransId="{FE224A0E-18FA-4FD1-BCE5-CBFC5EBE23C6}"/>
    <dgm:cxn modelId="{08A56D6D-6BF0-41BD-AC03-9DEF075E9B91}" type="presOf" srcId="{D6F246B9-8AF9-4E3A-9A85-427C8F856BA8}" destId="{7D5F4FBF-823D-4116-9365-4D3A25A3D2A7}" srcOrd="0" destOrd="0" presId="urn:microsoft.com/office/officeart/2008/layout/LinedList"/>
    <dgm:cxn modelId="{DAA77F57-44A2-4454-B66E-5819FA9F3FE4}" srcId="{3D4FEBE7-ABB1-45F2-92EF-4364D8B6CFF0}" destId="{4D9A019E-B929-4899-8D5D-FDC98E4A938B}" srcOrd="6" destOrd="0" parTransId="{5C7FF7FF-355B-46F0-BAA2-142EBC0006B6}" sibTransId="{CBD1F1B7-06A8-43C8-8EFE-93630FF613B2}"/>
    <dgm:cxn modelId="{56027A85-E913-4DAB-B618-C56C86D7696C}" srcId="{3D4FEBE7-ABB1-45F2-92EF-4364D8B6CFF0}" destId="{D6F246B9-8AF9-4E3A-9A85-427C8F856BA8}" srcOrd="4" destOrd="0" parTransId="{0776AEA4-D3E2-4B0A-A9B4-BDE219020913}" sibTransId="{693321EF-D1DB-412A-AE18-9C2119DC938E}"/>
    <dgm:cxn modelId="{D8ED7997-4D0A-4A35-95C7-02E31F3B1534}" srcId="{B0A60F5A-9BA1-465B-A0B2-620CDD93B668}" destId="{3D4FEBE7-ABB1-45F2-92EF-4364D8B6CFF0}" srcOrd="0" destOrd="0" parTransId="{36828EC2-8C22-45AD-BD1A-A677FE0B993B}" sibTransId="{437E91B8-489D-4B47-8B36-185B90248205}"/>
    <dgm:cxn modelId="{72BB2AAE-8CC6-4856-92D1-B53E9B91F711}" type="presOf" srcId="{696059DE-F3A0-4A20-ADC3-A830C76F7D79}" destId="{65C5C80A-F252-4BFF-99CC-5D42C7AD1C2B}" srcOrd="0" destOrd="0" presId="urn:microsoft.com/office/officeart/2008/layout/LinedList"/>
    <dgm:cxn modelId="{A5A72BD8-F789-4840-8C46-92371226046A}" type="presOf" srcId="{8269D7CC-6474-475C-AE9B-6731C90E305A}" destId="{881C57BC-39D6-4679-BD1C-E824C9F47976}" srcOrd="0" destOrd="0" presId="urn:microsoft.com/office/officeart/2008/layout/LinedList"/>
    <dgm:cxn modelId="{733C7DDE-FA39-47F6-BADC-A3297AF74349}" type="presOf" srcId="{E58C41EF-45D9-417C-AEF7-8CD62C8CFC52}" destId="{094ADCA5-B39C-4DF4-B813-0D7BAC285191}" srcOrd="0" destOrd="0" presId="urn:microsoft.com/office/officeart/2008/layout/LinedList"/>
    <dgm:cxn modelId="{28CA8CE6-A641-488C-AD4D-123FEAE1802C}" type="presOf" srcId="{B0A60F5A-9BA1-465B-A0B2-620CDD93B668}" destId="{19B7DB0E-F1D8-45F7-9CE0-5A9B55C45BB3}" srcOrd="0" destOrd="0" presId="urn:microsoft.com/office/officeart/2008/layout/LinedList"/>
    <dgm:cxn modelId="{75817FFE-021F-4A1E-A2B3-5E750F664DC3}" type="presOf" srcId="{3D4FEBE7-ABB1-45F2-92EF-4364D8B6CFF0}" destId="{A8AC2479-0169-4AE6-8340-1AD77CC56BAD}" srcOrd="0" destOrd="0" presId="urn:microsoft.com/office/officeart/2008/layout/LinedList"/>
    <dgm:cxn modelId="{627156FF-EF57-424C-B7AD-AF775B34D386}" type="presOf" srcId="{4D9A019E-B929-4899-8D5D-FDC98E4A938B}" destId="{1DCA874C-33DC-42F1-AF26-36D48373E913}" srcOrd="0" destOrd="0" presId="urn:microsoft.com/office/officeart/2008/layout/LinedList"/>
    <dgm:cxn modelId="{33016905-23AA-45B8-83AB-57B1B35FD05E}" type="presParOf" srcId="{19B7DB0E-F1D8-45F7-9CE0-5A9B55C45BB3}" destId="{F0AF342F-8658-4EDB-917E-692848DE92D4}" srcOrd="0" destOrd="0" presId="urn:microsoft.com/office/officeart/2008/layout/LinedList"/>
    <dgm:cxn modelId="{FBD06658-6A42-4451-90F0-8F3E051E8981}" type="presParOf" srcId="{19B7DB0E-F1D8-45F7-9CE0-5A9B55C45BB3}" destId="{66E36804-0E93-49AB-9A19-DD8644B23A29}" srcOrd="1" destOrd="0" presId="urn:microsoft.com/office/officeart/2008/layout/LinedList"/>
    <dgm:cxn modelId="{2F0C1A1A-1A75-4581-A514-B4F1D5B96B5B}" type="presParOf" srcId="{66E36804-0E93-49AB-9A19-DD8644B23A29}" destId="{A8AC2479-0169-4AE6-8340-1AD77CC56BAD}" srcOrd="0" destOrd="0" presId="urn:microsoft.com/office/officeart/2008/layout/LinedList"/>
    <dgm:cxn modelId="{C12DA73D-DD7F-43AF-B1E1-025CEF40F94B}" type="presParOf" srcId="{66E36804-0E93-49AB-9A19-DD8644B23A29}" destId="{8B8D3C1F-0CD1-4B4F-BCC6-C785B907AE14}" srcOrd="1" destOrd="0" presId="urn:microsoft.com/office/officeart/2008/layout/LinedList"/>
    <dgm:cxn modelId="{40A0F8E5-83C9-494C-BB4C-26E05FBFA39D}" type="presParOf" srcId="{8B8D3C1F-0CD1-4B4F-BCC6-C785B907AE14}" destId="{F9AFB3C1-BDEB-47EF-BF8E-3B20E9630D39}" srcOrd="0" destOrd="0" presId="urn:microsoft.com/office/officeart/2008/layout/LinedList"/>
    <dgm:cxn modelId="{371ED2CF-5DFB-444F-AC38-8F7AF5B330D2}" type="presParOf" srcId="{8B8D3C1F-0CD1-4B4F-BCC6-C785B907AE14}" destId="{BE895821-81E8-4718-BC5A-92B1B076FC41}" srcOrd="1" destOrd="0" presId="urn:microsoft.com/office/officeart/2008/layout/LinedList"/>
    <dgm:cxn modelId="{906EFDF3-8445-4E32-A086-FD7C560C44D1}" type="presParOf" srcId="{BE895821-81E8-4718-BC5A-92B1B076FC41}" destId="{344E556F-969B-4F1B-AAAC-534E634E905D}" srcOrd="0" destOrd="0" presId="urn:microsoft.com/office/officeart/2008/layout/LinedList"/>
    <dgm:cxn modelId="{03A1D755-E002-47AA-909F-8F3747772F42}" type="presParOf" srcId="{BE895821-81E8-4718-BC5A-92B1B076FC41}" destId="{65C5C80A-F252-4BFF-99CC-5D42C7AD1C2B}" srcOrd="1" destOrd="0" presId="urn:microsoft.com/office/officeart/2008/layout/LinedList"/>
    <dgm:cxn modelId="{F3734781-2DA9-40E3-8535-21645A44A14E}" type="presParOf" srcId="{BE895821-81E8-4718-BC5A-92B1B076FC41}" destId="{2ECE0DC2-22C1-4B5D-BD0B-E52FCB8D29AA}" srcOrd="2" destOrd="0" presId="urn:microsoft.com/office/officeart/2008/layout/LinedList"/>
    <dgm:cxn modelId="{DA346E4E-C657-4B92-9998-9142E8DE97FD}" type="presParOf" srcId="{8B8D3C1F-0CD1-4B4F-BCC6-C785B907AE14}" destId="{C50BA2D1-3908-46BA-A7B4-F0E7E32F3791}" srcOrd="2" destOrd="0" presId="urn:microsoft.com/office/officeart/2008/layout/LinedList"/>
    <dgm:cxn modelId="{92CFE4A9-7658-4E29-B9E8-092C71D204B1}" type="presParOf" srcId="{8B8D3C1F-0CD1-4B4F-BCC6-C785B907AE14}" destId="{3921536C-2978-4597-BB6F-9A925A5DBCAE}" srcOrd="3" destOrd="0" presId="urn:microsoft.com/office/officeart/2008/layout/LinedList"/>
    <dgm:cxn modelId="{CF2A7D48-B63F-4CF3-BE5C-C488B36A7215}" type="presParOf" srcId="{8B8D3C1F-0CD1-4B4F-BCC6-C785B907AE14}" destId="{7FBBEAC4-4731-4FA9-992C-D9CE1A1AD056}" srcOrd="4" destOrd="0" presId="urn:microsoft.com/office/officeart/2008/layout/LinedList"/>
    <dgm:cxn modelId="{21C1C1B5-39D8-4BC0-A0B5-EEC3BE5D7979}" type="presParOf" srcId="{7FBBEAC4-4731-4FA9-992C-D9CE1A1AD056}" destId="{F59DC794-FCDD-4974-9FAE-DDFAA31D7B81}" srcOrd="0" destOrd="0" presId="urn:microsoft.com/office/officeart/2008/layout/LinedList"/>
    <dgm:cxn modelId="{B3E4D452-6DB3-434D-8E81-C7608671BE5C}" type="presParOf" srcId="{7FBBEAC4-4731-4FA9-992C-D9CE1A1AD056}" destId="{B8CEDBF1-7F1B-4A2E-ADD8-D3CD36E91ECE}" srcOrd="1" destOrd="0" presId="urn:microsoft.com/office/officeart/2008/layout/LinedList"/>
    <dgm:cxn modelId="{B7706942-4458-4440-8987-1A9B5AF000A1}" type="presParOf" srcId="{7FBBEAC4-4731-4FA9-992C-D9CE1A1AD056}" destId="{542ED9B7-450F-4247-9C72-FAA88B6AAAAE}" srcOrd="2" destOrd="0" presId="urn:microsoft.com/office/officeart/2008/layout/LinedList"/>
    <dgm:cxn modelId="{93AE9E1F-F190-46CF-AD6A-F2D225FE02BF}" type="presParOf" srcId="{8B8D3C1F-0CD1-4B4F-BCC6-C785B907AE14}" destId="{9B025297-380E-4E03-8EBA-6455F8DD2F91}" srcOrd="5" destOrd="0" presId="urn:microsoft.com/office/officeart/2008/layout/LinedList"/>
    <dgm:cxn modelId="{D8C6D3C4-5824-4C5C-8079-1FD2C271070D}" type="presParOf" srcId="{8B8D3C1F-0CD1-4B4F-BCC6-C785B907AE14}" destId="{3032C7EE-0ADF-4DB7-AE4F-31A2C8B9C5E1}" srcOrd="6" destOrd="0" presId="urn:microsoft.com/office/officeart/2008/layout/LinedList"/>
    <dgm:cxn modelId="{BC3A4448-7EB3-42EF-93DC-92052B7B99A0}" type="presParOf" srcId="{8B8D3C1F-0CD1-4B4F-BCC6-C785B907AE14}" destId="{7ABEDC2E-6AC3-430A-A5A6-6CA16F17D097}" srcOrd="7" destOrd="0" presId="urn:microsoft.com/office/officeart/2008/layout/LinedList"/>
    <dgm:cxn modelId="{2F98C745-6C70-449E-AC3C-E06FD6EE9823}" type="presParOf" srcId="{7ABEDC2E-6AC3-430A-A5A6-6CA16F17D097}" destId="{38E8B285-E030-46B2-86F0-9205D0E5F91A}" srcOrd="0" destOrd="0" presId="urn:microsoft.com/office/officeart/2008/layout/LinedList"/>
    <dgm:cxn modelId="{0E8D0AAD-864B-44C3-BDC9-6629EBE39417}" type="presParOf" srcId="{7ABEDC2E-6AC3-430A-A5A6-6CA16F17D097}" destId="{881C57BC-39D6-4679-BD1C-E824C9F47976}" srcOrd="1" destOrd="0" presId="urn:microsoft.com/office/officeart/2008/layout/LinedList"/>
    <dgm:cxn modelId="{EBEE6A94-CA76-4562-8EA8-0C1FB7B9AF35}" type="presParOf" srcId="{7ABEDC2E-6AC3-430A-A5A6-6CA16F17D097}" destId="{CFF73D9D-46A5-48FC-9107-E5495482A324}" srcOrd="2" destOrd="0" presId="urn:microsoft.com/office/officeart/2008/layout/LinedList"/>
    <dgm:cxn modelId="{AC13BC89-CB19-487A-84AD-F53456B885DE}" type="presParOf" srcId="{8B8D3C1F-0CD1-4B4F-BCC6-C785B907AE14}" destId="{4C510D58-1383-4036-B23B-3F058AF7BA3D}" srcOrd="8" destOrd="0" presId="urn:microsoft.com/office/officeart/2008/layout/LinedList"/>
    <dgm:cxn modelId="{3673F018-649F-445D-91CD-19355B54069E}" type="presParOf" srcId="{8B8D3C1F-0CD1-4B4F-BCC6-C785B907AE14}" destId="{D75B75D3-54C0-4C17-94DF-05603FBB3309}" srcOrd="9" destOrd="0" presId="urn:microsoft.com/office/officeart/2008/layout/LinedList"/>
    <dgm:cxn modelId="{F18FAD95-6B67-45DD-A15E-7B262CFF96B2}" type="presParOf" srcId="{8B8D3C1F-0CD1-4B4F-BCC6-C785B907AE14}" destId="{5FA470E9-016D-4D43-B22B-1E868DB31D1D}" srcOrd="10" destOrd="0" presId="urn:microsoft.com/office/officeart/2008/layout/LinedList"/>
    <dgm:cxn modelId="{8063519D-E9B4-449B-B1D7-E1A710A5CD5D}" type="presParOf" srcId="{5FA470E9-016D-4D43-B22B-1E868DB31D1D}" destId="{21DA59DA-5E34-492A-9F8E-59A2403196FC}" srcOrd="0" destOrd="0" presId="urn:microsoft.com/office/officeart/2008/layout/LinedList"/>
    <dgm:cxn modelId="{30555BF9-9704-4008-A173-F2E71720040B}" type="presParOf" srcId="{5FA470E9-016D-4D43-B22B-1E868DB31D1D}" destId="{FF7FB06B-6FE6-478A-BFAB-079A0D67466E}" srcOrd="1" destOrd="0" presId="urn:microsoft.com/office/officeart/2008/layout/LinedList"/>
    <dgm:cxn modelId="{0C103A95-85D2-445F-BAAB-7CA373D7BE26}" type="presParOf" srcId="{5FA470E9-016D-4D43-B22B-1E868DB31D1D}" destId="{734CBDF5-3CBD-4594-B791-12D23F81D1E0}" srcOrd="2" destOrd="0" presId="urn:microsoft.com/office/officeart/2008/layout/LinedList"/>
    <dgm:cxn modelId="{5A42A3A2-3F08-45F2-8526-FABDB8A52A4D}" type="presParOf" srcId="{8B8D3C1F-0CD1-4B4F-BCC6-C785B907AE14}" destId="{9A8F4B12-117E-4C8E-9001-F0875C686A6F}" srcOrd="11" destOrd="0" presId="urn:microsoft.com/office/officeart/2008/layout/LinedList"/>
    <dgm:cxn modelId="{D351E2EE-808E-4151-9B88-115BC8F7B58A}" type="presParOf" srcId="{8B8D3C1F-0CD1-4B4F-BCC6-C785B907AE14}" destId="{A4EF7438-956A-4325-B2ED-2A81B5DC9594}" srcOrd="12" destOrd="0" presId="urn:microsoft.com/office/officeart/2008/layout/LinedList"/>
    <dgm:cxn modelId="{D48F55C1-7953-45C0-AA60-C7007426B47C}" type="presParOf" srcId="{8B8D3C1F-0CD1-4B4F-BCC6-C785B907AE14}" destId="{643DF564-7B80-4BB4-8CE1-5104873C7ABF}" srcOrd="13" destOrd="0" presId="urn:microsoft.com/office/officeart/2008/layout/LinedList"/>
    <dgm:cxn modelId="{A614A31F-EE2B-4709-B36C-F9965D5C138E}" type="presParOf" srcId="{643DF564-7B80-4BB4-8CE1-5104873C7ABF}" destId="{CDA6DF59-92C9-4D2E-A25E-747A2F86D766}" srcOrd="0" destOrd="0" presId="urn:microsoft.com/office/officeart/2008/layout/LinedList"/>
    <dgm:cxn modelId="{3D24928F-8D1C-43BC-8F87-3CFE2BE1AB78}" type="presParOf" srcId="{643DF564-7B80-4BB4-8CE1-5104873C7ABF}" destId="{7D5F4FBF-823D-4116-9365-4D3A25A3D2A7}" srcOrd="1" destOrd="0" presId="urn:microsoft.com/office/officeart/2008/layout/LinedList"/>
    <dgm:cxn modelId="{21DAA94F-0260-4BDD-9E26-32849BBD60D8}" type="presParOf" srcId="{643DF564-7B80-4BB4-8CE1-5104873C7ABF}" destId="{0D6FD152-358C-417D-BD8A-7F2B95D8E3C6}" srcOrd="2" destOrd="0" presId="urn:microsoft.com/office/officeart/2008/layout/LinedList"/>
    <dgm:cxn modelId="{63CD8B87-4829-4BF7-B6E7-4AFEDA5418DD}" type="presParOf" srcId="{8B8D3C1F-0CD1-4B4F-BCC6-C785B907AE14}" destId="{1E52AD30-70F7-4B40-AE13-BAC503D10EAE}" srcOrd="14" destOrd="0" presId="urn:microsoft.com/office/officeart/2008/layout/LinedList"/>
    <dgm:cxn modelId="{00EC7918-EA6F-4EBD-A438-7AAA24ACA3B5}" type="presParOf" srcId="{8B8D3C1F-0CD1-4B4F-BCC6-C785B907AE14}" destId="{C5DB1EFF-F674-4B26-A8AF-7770402184FB}" srcOrd="15" destOrd="0" presId="urn:microsoft.com/office/officeart/2008/layout/LinedList"/>
    <dgm:cxn modelId="{9702CA03-B9F7-443D-ADA7-9FEF1ACC466D}" type="presParOf" srcId="{8B8D3C1F-0CD1-4B4F-BCC6-C785B907AE14}" destId="{07B83E42-BDB1-46AE-8CEB-4DCAD21C249D}" srcOrd="16" destOrd="0" presId="urn:microsoft.com/office/officeart/2008/layout/LinedList"/>
    <dgm:cxn modelId="{04958263-3BB8-4BD7-AE5F-6965C47D0293}" type="presParOf" srcId="{07B83E42-BDB1-46AE-8CEB-4DCAD21C249D}" destId="{81A0BBAE-84C4-454D-B8CC-2AB7DC61A9DE}" srcOrd="0" destOrd="0" presId="urn:microsoft.com/office/officeart/2008/layout/LinedList"/>
    <dgm:cxn modelId="{7CB3BAB7-B796-45C3-AEFC-F15DAE53167D}" type="presParOf" srcId="{07B83E42-BDB1-46AE-8CEB-4DCAD21C249D}" destId="{094ADCA5-B39C-4DF4-B813-0D7BAC285191}" srcOrd="1" destOrd="0" presId="urn:microsoft.com/office/officeart/2008/layout/LinedList"/>
    <dgm:cxn modelId="{B143995F-28DC-4A25-8756-891A062C621E}" type="presParOf" srcId="{07B83E42-BDB1-46AE-8CEB-4DCAD21C249D}" destId="{67539599-A50A-4E99-8ACA-DE6D5534E844}" srcOrd="2" destOrd="0" presId="urn:microsoft.com/office/officeart/2008/layout/LinedList"/>
    <dgm:cxn modelId="{7EB325CA-7B20-4DC2-B006-E8A134BC8737}" type="presParOf" srcId="{8B8D3C1F-0CD1-4B4F-BCC6-C785B907AE14}" destId="{F7E20FF9-D729-4E50-997C-F865E0618C36}" srcOrd="17" destOrd="0" presId="urn:microsoft.com/office/officeart/2008/layout/LinedList"/>
    <dgm:cxn modelId="{C3718A4E-199A-46E8-A090-E57123DFEF3F}" type="presParOf" srcId="{8B8D3C1F-0CD1-4B4F-BCC6-C785B907AE14}" destId="{FAE3FAA8-8A31-485D-B939-254F42CD7FCC}" srcOrd="18" destOrd="0" presId="urn:microsoft.com/office/officeart/2008/layout/LinedList"/>
    <dgm:cxn modelId="{38F37DA9-F3AC-433A-96CD-CBBBE2D2F3D7}" type="presParOf" srcId="{8B8D3C1F-0CD1-4B4F-BCC6-C785B907AE14}" destId="{DFB6DF4D-C0B9-42B4-9593-902206726E57}" srcOrd="19" destOrd="0" presId="urn:microsoft.com/office/officeart/2008/layout/LinedList"/>
    <dgm:cxn modelId="{121E8E19-8A6B-48D8-9BF4-D941B9C9F8B7}" type="presParOf" srcId="{DFB6DF4D-C0B9-42B4-9593-902206726E57}" destId="{AB611D46-48E4-45C9-9B37-91257F8BD9DC}" srcOrd="0" destOrd="0" presId="urn:microsoft.com/office/officeart/2008/layout/LinedList"/>
    <dgm:cxn modelId="{24059441-9753-409F-82CB-82BEF552C18C}" type="presParOf" srcId="{DFB6DF4D-C0B9-42B4-9593-902206726E57}" destId="{1DCA874C-33DC-42F1-AF26-36D48373E913}" srcOrd="1" destOrd="0" presId="urn:microsoft.com/office/officeart/2008/layout/LinedList"/>
    <dgm:cxn modelId="{41DC0A2A-B291-45D3-9664-1B01913D2729}" type="presParOf" srcId="{DFB6DF4D-C0B9-42B4-9593-902206726E57}" destId="{62677270-205C-49DB-9683-66ED65CE16B1}" srcOrd="2" destOrd="0" presId="urn:microsoft.com/office/officeart/2008/layout/LinedList"/>
    <dgm:cxn modelId="{4078F3A8-F9CC-4DE7-9E0E-72CE427157C6}" type="presParOf" srcId="{8B8D3C1F-0CD1-4B4F-BCC6-C785B907AE14}" destId="{4A7CF4AD-0937-460E-A9CD-EA84B5F02C02}" srcOrd="20" destOrd="0" presId="urn:microsoft.com/office/officeart/2008/layout/LinedList"/>
    <dgm:cxn modelId="{6ED86A0C-66CF-435E-BACD-F7F12111BACC}" type="presParOf" srcId="{8B8D3C1F-0CD1-4B4F-BCC6-C785B907AE14}" destId="{4DA73763-02B4-4A7D-8BF9-6666A8FA5DD7}" srcOrd="21" destOrd="0" presId="urn:microsoft.com/office/officeart/2008/layout/LinedList"/>
    <dgm:cxn modelId="{8EE2AFF0-1BB6-4ECC-9F47-750E7374D13F}" type="presParOf" srcId="{8B8D3C1F-0CD1-4B4F-BCC6-C785B907AE14}" destId="{CA8D02E9-D4C8-4968-BAB1-43D33F469B5C}" srcOrd="22" destOrd="0" presId="urn:microsoft.com/office/officeart/2008/layout/LinedList"/>
    <dgm:cxn modelId="{5BA16552-DDF8-4991-9559-563845CBEC83}" type="presParOf" srcId="{CA8D02E9-D4C8-4968-BAB1-43D33F469B5C}" destId="{4F2AC90C-5CB8-432A-B3F7-B35A2C0BAEA1}" srcOrd="0" destOrd="0" presId="urn:microsoft.com/office/officeart/2008/layout/LinedList"/>
    <dgm:cxn modelId="{335ED085-EED9-4102-9AC8-490F7A5783CE}" type="presParOf" srcId="{CA8D02E9-D4C8-4968-BAB1-43D33F469B5C}" destId="{1EE81796-126B-4EA4-BCF6-5220CC397C67}" srcOrd="1" destOrd="0" presId="urn:microsoft.com/office/officeart/2008/layout/LinedList"/>
    <dgm:cxn modelId="{070F49C0-0367-4A95-8EE0-6692112F54C8}" type="presParOf" srcId="{CA8D02E9-D4C8-4968-BAB1-43D33F469B5C}" destId="{9F19FC08-611D-41D4-9B9C-ACB46A0D4C6D}" srcOrd="2" destOrd="0" presId="urn:microsoft.com/office/officeart/2008/layout/LinedList"/>
    <dgm:cxn modelId="{30F2A72D-E128-41D2-94A0-16D1B2A5EFAD}" type="presParOf" srcId="{8B8D3C1F-0CD1-4B4F-BCC6-C785B907AE14}" destId="{620843C3-CE13-4A01-AAEE-62230E463D63}" srcOrd="23" destOrd="0" presId="urn:microsoft.com/office/officeart/2008/layout/LinedList"/>
    <dgm:cxn modelId="{388B31EA-3A39-4586-9331-ED3E1AE42BA7}" type="presParOf" srcId="{8B8D3C1F-0CD1-4B4F-BCC6-C785B907AE14}" destId="{271539BB-8553-4582-A9D8-0E0E0B16DFAF}" srcOrd="24"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AF342F-8658-4EDB-917E-692848DE92D4}">
      <dsp:nvSpPr>
        <dsp:cNvPr id="0" name=""/>
        <dsp:cNvSpPr/>
      </dsp:nvSpPr>
      <dsp:spPr>
        <a:xfrm>
          <a:off x="0" y="0"/>
          <a:ext cx="7109859" cy="0"/>
        </a:xfrm>
        <a:prstGeom prst="line">
          <a:avLst/>
        </a:prstGeom>
        <a:gradFill rotWithShape="0">
          <a:gsLst>
            <a:gs pos="0">
              <a:schemeClr val="accent2">
                <a:hueOff val="0"/>
                <a:satOff val="0"/>
                <a:lumOff val="0"/>
                <a:alphaOff val="0"/>
                <a:tint val="96000"/>
                <a:lumMod val="102000"/>
              </a:schemeClr>
            </a:gs>
            <a:gs pos="100000">
              <a:schemeClr val="accent2">
                <a:hueOff val="0"/>
                <a:satOff val="0"/>
                <a:lumOff val="0"/>
                <a:alphaOff val="0"/>
                <a:shade val="88000"/>
                <a:lumMod val="94000"/>
              </a:schemeClr>
            </a:gs>
          </a:gsLst>
          <a:path path="circle">
            <a:fillToRect l="50000" t="100000" r="100000" b="50000"/>
          </a:path>
        </a:gradFill>
        <a:ln w="9525" cap="rnd" cmpd="sng" algn="ctr">
          <a:solidFill>
            <a:schemeClr val="accent2">
              <a:hueOff val="0"/>
              <a:satOff val="0"/>
              <a:lumOff val="0"/>
              <a:alphaOff val="0"/>
            </a:schemeClr>
          </a:solidFill>
          <a:prstDash val="solid"/>
        </a:ln>
        <a:effectLst>
          <a:reflection blurRad="12700" stA="26000" endPos="32000" dist="12700" dir="5400000" sy="-100000" rotWithShape="0"/>
        </a:effectLst>
      </dsp:spPr>
      <dsp:style>
        <a:lnRef idx="1">
          <a:scrgbClr r="0" g="0" b="0"/>
        </a:lnRef>
        <a:fillRef idx="3">
          <a:scrgbClr r="0" g="0" b="0"/>
        </a:fillRef>
        <a:effectRef idx="2">
          <a:scrgbClr r="0" g="0" b="0"/>
        </a:effectRef>
        <a:fontRef idx="minor">
          <a:schemeClr val="lt1"/>
        </a:fontRef>
      </dsp:style>
    </dsp:sp>
    <dsp:sp modelId="{A8AC2479-0169-4AE6-8340-1AD77CC56BAD}">
      <dsp:nvSpPr>
        <dsp:cNvPr id="0" name=""/>
        <dsp:cNvSpPr/>
      </dsp:nvSpPr>
      <dsp:spPr>
        <a:xfrm>
          <a:off x="0" y="0"/>
          <a:ext cx="1421971" cy="6736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We have 8 CSV files </a:t>
          </a:r>
        </a:p>
      </dsp:txBody>
      <dsp:txXfrm>
        <a:off x="0" y="0"/>
        <a:ext cx="1421971" cy="6736326"/>
      </dsp:txXfrm>
    </dsp:sp>
    <dsp:sp modelId="{65C5C80A-F252-4BFF-99CC-5D42C7AD1C2B}">
      <dsp:nvSpPr>
        <dsp:cNvPr id="0" name=""/>
        <dsp:cNvSpPr/>
      </dsp:nvSpPr>
      <dsp:spPr>
        <a:xfrm>
          <a:off x="1528619" y="39840"/>
          <a:ext cx="5581239" cy="79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Customers</a:t>
          </a:r>
          <a:r>
            <a:rPr lang="en-US" sz="1600" kern="1200" dirty="0"/>
            <a:t>-This table stores information about the company's customers and their basic information.</a:t>
          </a:r>
        </a:p>
      </dsp:txBody>
      <dsp:txXfrm>
        <a:off x="1528619" y="39840"/>
        <a:ext cx="5581239" cy="796813"/>
      </dsp:txXfrm>
    </dsp:sp>
    <dsp:sp modelId="{C50BA2D1-3908-46BA-A7B4-F0E7E32F3791}">
      <dsp:nvSpPr>
        <dsp:cNvPr id="0" name=""/>
        <dsp:cNvSpPr/>
      </dsp:nvSpPr>
      <dsp:spPr>
        <a:xfrm>
          <a:off x="1421971" y="836654"/>
          <a:ext cx="5687887" cy="0"/>
        </a:xfrm>
        <a:prstGeom prst="line">
          <a:avLst/>
        </a:prstGeom>
        <a:solidFill>
          <a:schemeClr val="accent2">
            <a:hueOff val="0"/>
            <a:satOff val="0"/>
            <a:lumOff val="0"/>
            <a:alphaOff val="0"/>
          </a:schemeClr>
        </a:solidFill>
        <a:ln w="15875" cap="rnd"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B8CEDBF1-7F1B-4A2E-ADD8-D3CD36E91ECE}">
      <dsp:nvSpPr>
        <dsp:cNvPr id="0" name=""/>
        <dsp:cNvSpPr/>
      </dsp:nvSpPr>
      <dsp:spPr>
        <a:xfrm>
          <a:off x="1528619" y="876495"/>
          <a:ext cx="5581239" cy="79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Orders</a:t>
          </a:r>
          <a:r>
            <a:rPr lang="en-US" sz="1600" kern="1200" dirty="0"/>
            <a:t>-This table stores information about the Customer’s orders. It includes order ID, customer ID, employee ID, order date, shipped </a:t>
          </a:r>
          <a:r>
            <a:rPr lang="en-US" sz="1600" kern="1200" dirty="0" err="1"/>
            <a:t>date,shipping</a:t>
          </a:r>
          <a:r>
            <a:rPr lang="en-US" sz="1600" kern="1200" dirty="0"/>
            <a:t> address </a:t>
          </a:r>
          <a:r>
            <a:rPr lang="en-US" sz="1600" kern="1200" dirty="0" err="1"/>
            <a:t>etc</a:t>
          </a:r>
          <a:endParaRPr lang="en-US" sz="1600" kern="1200" dirty="0"/>
        </a:p>
      </dsp:txBody>
      <dsp:txXfrm>
        <a:off x="1528619" y="876495"/>
        <a:ext cx="5581239" cy="796813"/>
      </dsp:txXfrm>
    </dsp:sp>
    <dsp:sp modelId="{9B025297-380E-4E03-8EBA-6455F8DD2F91}">
      <dsp:nvSpPr>
        <dsp:cNvPr id="0" name=""/>
        <dsp:cNvSpPr/>
      </dsp:nvSpPr>
      <dsp:spPr>
        <a:xfrm>
          <a:off x="1421971" y="1673309"/>
          <a:ext cx="5687887" cy="0"/>
        </a:xfrm>
        <a:prstGeom prst="line">
          <a:avLst/>
        </a:prstGeom>
        <a:solidFill>
          <a:schemeClr val="accent2">
            <a:hueOff val="0"/>
            <a:satOff val="0"/>
            <a:lumOff val="0"/>
            <a:alphaOff val="0"/>
          </a:schemeClr>
        </a:solidFill>
        <a:ln w="15875" cap="rnd"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881C57BC-39D6-4679-BD1C-E824C9F47976}">
      <dsp:nvSpPr>
        <dsp:cNvPr id="0" name=""/>
        <dsp:cNvSpPr/>
      </dsp:nvSpPr>
      <dsp:spPr>
        <a:xfrm>
          <a:off x="1528619" y="1713149"/>
          <a:ext cx="5581239" cy="79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err="1"/>
            <a:t>Orderdetails</a:t>
          </a:r>
          <a:r>
            <a:rPr lang="en-US" sz="1600" kern="1200" dirty="0"/>
            <a:t>-This table stores detailed information about the items within each order.</a:t>
          </a:r>
        </a:p>
      </dsp:txBody>
      <dsp:txXfrm>
        <a:off x="1528619" y="1713149"/>
        <a:ext cx="5581239" cy="796813"/>
      </dsp:txXfrm>
    </dsp:sp>
    <dsp:sp modelId="{4C510D58-1383-4036-B23B-3F058AF7BA3D}">
      <dsp:nvSpPr>
        <dsp:cNvPr id="0" name=""/>
        <dsp:cNvSpPr/>
      </dsp:nvSpPr>
      <dsp:spPr>
        <a:xfrm>
          <a:off x="1421971" y="2509963"/>
          <a:ext cx="5687887" cy="0"/>
        </a:xfrm>
        <a:prstGeom prst="line">
          <a:avLst/>
        </a:prstGeom>
        <a:solidFill>
          <a:schemeClr val="accent2">
            <a:hueOff val="0"/>
            <a:satOff val="0"/>
            <a:lumOff val="0"/>
            <a:alphaOff val="0"/>
          </a:schemeClr>
        </a:solidFill>
        <a:ln w="15875" cap="rnd"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FF7FB06B-6FE6-478A-BFAB-079A0D67466E}">
      <dsp:nvSpPr>
        <dsp:cNvPr id="0" name=""/>
        <dsp:cNvSpPr/>
      </dsp:nvSpPr>
      <dsp:spPr>
        <a:xfrm>
          <a:off x="1528619" y="2549804"/>
          <a:ext cx="5581239" cy="79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Suppliers</a:t>
          </a:r>
          <a:r>
            <a:rPr lang="en-US" sz="1600" kern="1200" dirty="0"/>
            <a:t>-This table stores information about the suppliers ,their names ,</a:t>
          </a:r>
          <a:r>
            <a:rPr lang="en-US" sz="1600" kern="1200" err="1"/>
            <a:t>ids</a:t>
          </a:r>
          <a:r>
            <a:rPr lang="en-US" sz="1600" kern="1200"/>
            <a:t>, adress</a:t>
          </a:r>
          <a:endParaRPr lang="en-US" sz="1600" kern="1200" dirty="0"/>
        </a:p>
      </dsp:txBody>
      <dsp:txXfrm>
        <a:off x="1528619" y="2549804"/>
        <a:ext cx="5581239" cy="796813"/>
      </dsp:txXfrm>
    </dsp:sp>
    <dsp:sp modelId="{9A8F4B12-117E-4C8E-9001-F0875C686A6F}">
      <dsp:nvSpPr>
        <dsp:cNvPr id="0" name=""/>
        <dsp:cNvSpPr/>
      </dsp:nvSpPr>
      <dsp:spPr>
        <a:xfrm>
          <a:off x="1421971" y="3346618"/>
          <a:ext cx="5687887" cy="0"/>
        </a:xfrm>
        <a:prstGeom prst="line">
          <a:avLst/>
        </a:prstGeom>
        <a:solidFill>
          <a:schemeClr val="accent2">
            <a:hueOff val="0"/>
            <a:satOff val="0"/>
            <a:lumOff val="0"/>
            <a:alphaOff val="0"/>
          </a:schemeClr>
        </a:solidFill>
        <a:ln w="15875" cap="rnd"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7D5F4FBF-823D-4116-9365-4D3A25A3D2A7}">
      <dsp:nvSpPr>
        <dsp:cNvPr id="0" name=""/>
        <dsp:cNvSpPr/>
      </dsp:nvSpPr>
      <dsp:spPr>
        <a:xfrm>
          <a:off x="1528619" y="3386459"/>
          <a:ext cx="5581239" cy="79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Categories</a:t>
          </a:r>
          <a:r>
            <a:rPr lang="en-US" sz="1600" kern="1200" dirty="0"/>
            <a:t>-This table stores information about the product categories.  fields for category ID, category name</a:t>
          </a:r>
        </a:p>
      </dsp:txBody>
      <dsp:txXfrm>
        <a:off x="1528619" y="3386459"/>
        <a:ext cx="5581239" cy="796813"/>
      </dsp:txXfrm>
    </dsp:sp>
    <dsp:sp modelId="{1E52AD30-70F7-4B40-AE13-BAC503D10EAE}">
      <dsp:nvSpPr>
        <dsp:cNvPr id="0" name=""/>
        <dsp:cNvSpPr/>
      </dsp:nvSpPr>
      <dsp:spPr>
        <a:xfrm>
          <a:off x="1421971" y="4183273"/>
          <a:ext cx="5687887" cy="0"/>
        </a:xfrm>
        <a:prstGeom prst="line">
          <a:avLst/>
        </a:prstGeom>
        <a:solidFill>
          <a:schemeClr val="accent2">
            <a:hueOff val="0"/>
            <a:satOff val="0"/>
            <a:lumOff val="0"/>
            <a:alphaOff val="0"/>
          </a:schemeClr>
        </a:solidFill>
        <a:ln w="15875" cap="rnd"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094ADCA5-B39C-4DF4-B813-0D7BAC285191}">
      <dsp:nvSpPr>
        <dsp:cNvPr id="0" name=""/>
        <dsp:cNvSpPr/>
      </dsp:nvSpPr>
      <dsp:spPr>
        <a:xfrm>
          <a:off x="1528619" y="4223113"/>
          <a:ext cx="5581239" cy="79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Shippers</a:t>
          </a:r>
          <a:r>
            <a:rPr lang="en-US" sz="1600" kern="1200" dirty="0"/>
            <a:t>-This table stores information about different shipping companies</a:t>
          </a:r>
        </a:p>
      </dsp:txBody>
      <dsp:txXfrm>
        <a:off x="1528619" y="4223113"/>
        <a:ext cx="5581239" cy="796813"/>
      </dsp:txXfrm>
    </dsp:sp>
    <dsp:sp modelId="{F7E20FF9-D729-4E50-997C-F865E0618C36}">
      <dsp:nvSpPr>
        <dsp:cNvPr id="0" name=""/>
        <dsp:cNvSpPr/>
      </dsp:nvSpPr>
      <dsp:spPr>
        <a:xfrm>
          <a:off x="1421971" y="5019927"/>
          <a:ext cx="5687887" cy="0"/>
        </a:xfrm>
        <a:prstGeom prst="line">
          <a:avLst/>
        </a:prstGeom>
        <a:solidFill>
          <a:schemeClr val="accent2">
            <a:hueOff val="0"/>
            <a:satOff val="0"/>
            <a:lumOff val="0"/>
            <a:alphaOff val="0"/>
          </a:schemeClr>
        </a:solidFill>
        <a:ln w="15875" cap="rnd"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1DCA874C-33DC-42F1-AF26-36D48373E913}">
      <dsp:nvSpPr>
        <dsp:cNvPr id="0" name=""/>
        <dsp:cNvSpPr/>
      </dsp:nvSpPr>
      <dsp:spPr>
        <a:xfrm>
          <a:off x="1528619" y="5059768"/>
          <a:ext cx="5581239" cy="79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Products</a:t>
          </a:r>
          <a:r>
            <a:rPr lang="en-US" sz="1600" kern="1200" dirty="0"/>
            <a:t>-This table stores information about the company's products and their details</a:t>
          </a:r>
        </a:p>
      </dsp:txBody>
      <dsp:txXfrm>
        <a:off x="1528619" y="5059768"/>
        <a:ext cx="5581239" cy="796813"/>
      </dsp:txXfrm>
    </dsp:sp>
    <dsp:sp modelId="{4A7CF4AD-0937-460E-A9CD-EA84B5F02C02}">
      <dsp:nvSpPr>
        <dsp:cNvPr id="0" name=""/>
        <dsp:cNvSpPr/>
      </dsp:nvSpPr>
      <dsp:spPr>
        <a:xfrm>
          <a:off x="1421971" y="5856582"/>
          <a:ext cx="5687887" cy="0"/>
        </a:xfrm>
        <a:prstGeom prst="line">
          <a:avLst/>
        </a:prstGeom>
        <a:solidFill>
          <a:schemeClr val="accent2">
            <a:hueOff val="0"/>
            <a:satOff val="0"/>
            <a:lumOff val="0"/>
            <a:alphaOff val="0"/>
          </a:schemeClr>
        </a:solidFill>
        <a:ln w="15875" cap="rnd"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1EE81796-126B-4EA4-BCF6-5220CC397C67}">
      <dsp:nvSpPr>
        <dsp:cNvPr id="0" name=""/>
        <dsp:cNvSpPr/>
      </dsp:nvSpPr>
      <dsp:spPr>
        <a:xfrm>
          <a:off x="1528619" y="5896423"/>
          <a:ext cx="5581239" cy="79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Employees</a:t>
          </a:r>
          <a:r>
            <a:rPr lang="en-US" sz="1600" kern="1200" dirty="0"/>
            <a:t>-This table stores information about the company's employees and their details</a:t>
          </a:r>
        </a:p>
      </dsp:txBody>
      <dsp:txXfrm>
        <a:off x="1528619" y="5896423"/>
        <a:ext cx="5581239" cy="796813"/>
      </dsp:txXfrm>
    </dsp:sp>
    <dsp:sp modelId="{620843C3-CE13-4A01-AAEE-62230E463D63}">
      <dsp:nvSpPr>
        <dsp:cNvPr id="0" name=""/>
        <dsp:cNvSpPr/>
      </dsp:nvSpPr>
      <dsp:spPr>
        <a:xfrm>
          <a:off x="1421971" y="6693237"/>
          <a:ext cx="5687887" cy="0"/>
        </a:xfrm>
        <a:prstGeom prst="line">
          <a:avLst/>
        </a:prstGeom>
        <a:solidFill>
          <a:schemeClr val="accent2">
            <a:hueOff val="0"/>
            <a:satOff val="0"/>
            <a:lumOff val="0"/>
            <a:alphaOff val="0"/>
          </a:schemeClr>
        </a:solidFill>
        <a:ln w="15875" cap="rnd"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66AC67-0FF3-46A3-B383-CC08E9594E3B}" type="datetimeFigureOut">
              <a:rPr lang="en-US" smtClean="0"/>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182DE6-9E8D-4B56-8C94-2507D502A502}" type="slidenum">
              <a:rPr lang="en-US" smtClean="0"/>
              <a:t>‹#›</a:t>
            </a:fld>
            <a:endParaRPr lang="en-US"/>
          </a:p>
        </p:txBody>
      </p:sp>
    </p:spTree>
    <p:extLst>
      <p:ext uri="{BB962C8B-B14F-4D97-AF65-F5344CB8AC3E}">
        <p14:creationId xmlns:p14="http://schemas.microsoft.com/office/powerpoint/2010/main" val="3384034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182DE6-9E8D-4B56-8C94-2507D502A502}" type="slidenum">
              <a:rPr lang="en-US" smtClean="0"/>
              <a:t>4</a:t>
            </a:fld>
            <a:endParaRPr lang="en-US"/>
          </a:p>
        </p:txBody>
      </p:sp>
    </p:spTree>
    <p:extLst>
      <p:ext uri="{BB962C8B-B14F-4D97-AF65-F5344CB8AC3E}">
        <p14:creationId xmlns:p14="http://schemas.microsoft.com/office/powerpoint/2010/main" val="473640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182DE6-9E8D-4B56-8C94-2507D502A502}" type="slidenum">
              <a:rPr lang="en-US" smtClean="0"/>
              <a:t>5</a:t>
            </a:fld>
            <a:endParaRPr lang="en-US"/>
          </a:p>
        </p:txBody>
      </p:sp>
    </p:spTree>
    <p:extLst>
      <p:ext uri="{BB962C8B-B14F-4D97-AF65-F5344CB8AC3E}">
        <p14:creationId xmlns:p14="http://schemas.microsoft.com/office/powerpoint/2010/main" val="3269361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182DE6-9E8D-4B56-8C94-2507D502A502}" type="slidenum">
              <a:rPr lang="en-US" smtClean="0"/>
              <a:t>8</a:t>
            </a:fld>
            <a:endParaRPr lang="en-US"/>
          </a:p>
        </p:txBody>
      </p:sp>
    </p:spTree>
    <p:extLst>
      <p:ext uri="{BB962C8B-B14F-4D97-AF65-F5344CB8AC3E}">
        <p14:creationId xmlns:p14="http://schemas.microsoft.com/office/powerpoint/2010/main" val="498880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9467B3-2927-4CCC-A54C-CB62064A7B1D}" type="datetimeFigureOut">
              <a:rPr lang="en-US" smtClean="0"/>
              <a:t>11/7/2025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2391944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9467B3-2927-4CCC-A54C-CB62064A7B1D}"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1224400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9467B3-2927-4CCC-A54C-CB62064A7B1D}"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3301278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9467B3-2927-4CCC-A54C-CB62064A7B1D}"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3155952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9467B3-2927-4CCC-A54C-CB62064A7B1D}" type="datetimeFigureOut">
              <a:rPr lang="en-US" smtClean="0"/>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2658520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9467B3-2927-4CCC-A54C-CB62064A7B1D}" type="datetimeFigureOut">
              <a:rPr lang="en-US" smtClean="0"/>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4249627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9467B3-2927-4CCC-A54C-CB62064A7B1D}" type="datetimeFigureOut">
              <a:rPr lang="en-US" smtClean="0"/>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3544312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9467B3-2927-4CCC-A54C-CB62064A7B1D}"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3714649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9467B3-2927-4CCC-A54C-CB62064A7B1D}"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1653902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9467B3-2927-4CCC-A54C-CB62064A7B1D}"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3562517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9467B3-2927-4CCC-A54C-CB62064A7B1D}"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633248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9467B3-2927-4CCC-A54C-CB62064A7B1D}"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3392679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9467B3-2927-4CCC-A54C-CB62064A7B1D}"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18001230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9467B3-2927-4CCC-A54C-CB62064A7B1D}"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2332509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9467B3-2927-4CCC-A54C-CB62064A7B1D}"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1640339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9467B3-2927-4CCC-A54C-CB62064A7B1D}"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23375986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9467B3-2927-4CCC-A54C-CB62064A7B1D}"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EF9B2C-8FB2-4958-9F60-0A6622614787}" type="slidenum">
              <a:rPr lang="en-US" smtClean="0"/>
              <a:t>‹#›</a:t>
            </a:fld>
            <a:endParaRPr lang="en-US"/>
          </a:p>
        </p:txBody>
      </p:sp>
    </p:spTree>
    <p:extLst>
      <p:ext uri="{BB962C8B-B14F-4D97-AF65-F5344CB8AC3E}">
        <p14:creationId xmlns:p14="http://schemas.microsoft.com/office/powerpoint/2010/main" val="1276439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C9467B3-2927-4CCC-A54C-CB62064A7B1D}" type="datetimeFigureOut">
              <a:rPr lang="en-US" smtClean="0"/>
              <a:t>11/7/2025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8EF9B2C-8FB2-4958-9F60-0A6622614787}" type="slidenum">
              <a:rPr lang="en-US" smtClean="0"/>
              <a:t>‹#›</a:t>
            </a:fld>
            <a:endParaRPr lang="en-US"/>
          </a:p>
        </p:txBody>
      </p:sp>
    </p:spTree>
    <p:extLst>
      <p:ext uri="{BB962C8B-B14F-4D97-AF65-F5344CB8AC3E}">
        <p14:creationId xmlns:p14="http://schemas.microsoft.com/office/powerpoint/2010/main" val="1864162102"/>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1AD25-95B5-FB98-69B0-088B8EC64A01}"/>
              </a:ext>
            </a:extLst>
          </p:cNvPr>
          <p:cNvSpPr>
            <a:spLocks noGrp="1"/>
          </p:cNvSpPr>
          <p:nvPr>
            <p:ph type="ctrTitle"/>
          </p:nvPr>
        </p:nvSpPr>
        <p:spPr>
          <a:xfrm>
            <a:off x="6615112" y="1122363"/>
            <a:ext cx="4052887" cy="2387600"/>
          </a:xfrm>
        </p:spPr>
        <p:txBody>
          <a:bodyPr>
            <a:normAutofit/>
          </a:bodyPr>
          <a:lstStyle/>
          <a:p>
            <a:r>
              <a:rPr lang="en-US" sz="4400" b="1"/>
              <a:t> Northwind Traders Sales Analysis</a:t>
            </a:r>
            <a:endParaRPr lang="en-US" sz="4400"/>
          </a:p>
        </p:txBody>
      </p:sp>
      <p:sp>
        <p:nvSpPr>
          <p:cNvPr id="3" name="Subtitle 2">
            <a:extLst>
              <a:ext uri="{FF2B5EF4-FFF2-40B4-BE49-F238E27FC236}">
                <a16:creationId xmlns:a16="http://schemas.microsoft.com/office/drawing/2014/main" id="{DFD1A1AC-9EF7-FFA8-9540-971D2A4D4385}"/>
              </a:ext>
            </a:extLst>
          </p:cNvPr>
          <p:cNvSpPr>
            <a:spLocks noGrp="1"/>
          </p:cNvSpPr>
          <p:nvPr>
            <p:ph type="subTitle" idx="1"/>
          </p:nvPr>
        </p:nvSpPr>
        <p:spPr>
          <a:xfrm>
            <a:off x="6585702" y="3602038"/>
            <a:ext cx="4082297" cy="1655762"/>
          </a:xfrm>
        </p:spPr>
        <p:txBody>
          <a:bodyPr>
            <a:normAutofit/>
          </a:bodyPr>
          <a:lstStyle/>
          <a:p>
            <a:r>
              <a:rPr lang="en-US" dirty="0"/>
              <a:t>A complete overview of sale’s ins and outs</a:t>
            </a:r>
          </a:p>
          <a:p>
            <a:r>
              <a:rPr lang="en-US" dirty="0"/>
              <a:t>-by Saniya  Sayyad</a:t>
            </a:r>
          </a:p>
        </p:txBody>
      </p:sp>
      <p:pic>
        <p:nvPicPr>
          <p:cNvPr id="82" name="Picture 81" descr="Digital financial graph">
            <a:extLst>
              <a:ext uri="{FF2B5EF4-FFF2-40B4-BE49-F238E27FC236}">
                <a16:creationId xmlns:a16="http://schemas.microsoft.com/office/drawing/2014/main" id="{8773D0A7-55C7-724A-CD79-7CEE340298F8}"/>
              </a:ext>
            </a:extLst>
          </p:cNvPr>
          <p:cNvPicPr>
            <a:picLocks noChangeAspect="1"/>
          </p:cNvPicPr>
          <p:nvPr/>
        </p:nvPicPr>
        <p:blipFill>
          <a:blip r:embed="rId3"/>
          <a:srcRect l="32620" r="17334"/>
          <a:stretch>
            <a:fillRect/>
          </a:stretch>
        </p:blipFill>
        <p:spPr>
          <a:xfrm>
            <a:off x="-5597" y="10"/>
            <a:ext cx="6101597" cy="6857990"/>
          </a:xfrm>
          <a:prstGeom prst="rect">
            <a:avLst/>
          </a:prstGeom>
        </p:spPr>
      </p:pic>
    </p:spTree>
    <p:extLst>
      <p:ext uri="{BB962C8B-B14F-4D97-AF65-F5344CB8AC3E}">
        <p14:creationId xmlns:p14="http://schemas.microsoft.com/office/powerpoint/2010/main" val="588966338"/>
      </p:ext>
    </p:extLst>
  </p:cSld>
  <p:clrMapOvr>
    <a:masterClrMapping/>
  </p:clrMapOvr>
  <mc:AlternateContent xmlns:mc="http://schemas.openxmlformats.org/markup-compatibility/2006" xmlns:p14="http://schemas.microsoft.com/office/powerpoint/2010/main">
    <mc:Choice Requires="p14">
      <p:transition spd="slow" p14:dur="2000" advTm="28598"/>
    </mc:Choice>
    <mc:Fallback xmlns="">
      <p:transition spd="slow" advTm="285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8FA15-8E38-F9E6-733B-0C5768B71987}"/>
              </a:ext>
            </a:extLst>
          </p:cNvPr>
          <p:cNvSpPr>
            <a:spLocks noGrp="1"/>
          </p:cNvSpPr>
          <p:nvPr>
            <p:ph type="title"/>
          </p:nvPr>
        </p:nvSpPr>
        <p:spPr/>
        <p:txBody>
          <a:bodyPr/>
          <a:lstStyle/>
          <a:p>
            <a:r>
              <a:rPr lang="en-US" dirty="0"/>
              <a:t>About Project</a:t>
            </a:r>
          </a:p>
        </p:txBody>
      </p:sp>
      <p:sp>
        <p:nvSpPr>
          <p:cNvPr id="3" name="Content Placeholder 2">
            <a:extLst>
              <a:ext uri="{FF2B5EF4-FFF2-40B4-BE49-F238E27FC236}">
                <a16:creationId xmlns:a16="http://schemas.microsoft.com/office/drawing/2014/main" id="{44DD27F7-B8D4-84C6-0EF8-68F42D73CBD1}"/>
              </a:ext>
            </a:extLst>
          </p:cNvPr>
          <p:cNvSpPr>
            <a:spLocks noGrp="1"/>
          </p:cNvSpPr>
          <p:nvPr>
            <p:ph idx="1"/>
          </p:nvPr>
        </p:nvSpPr>
        <p:spPr/>
        <p:txBody>
          <a:bodyPr/>
          <a:lstStyle/>
          <a:p>
            <a:r>
              <a:rPr lang="en-US" dirty="0"/>
              <a:t>This report aims to provide a comprehensive view of the company’s operations by consolidating data from multiple tables. It will analyze sales performance, customer segmentation, inventory trends, and employee productivity to uncover key insights into customer behavior, sales patterns, and workforce efficiency. Through interactive visualizations and dynamic filters, the report will enable stakeholders to explore data easily and make informed, data-driven decisions.</a:t>
            </a:r>
          </a:p>
        </p:txBody>
      </p:sp>
    </p:spTree>
    <p:extLst>
      <p:ext uri="{BB962C8B-B14F-4D97-AF65-F5344CB8AC3E}">
        <p14:creationId xmlns:p14="http://schemas.microsoft.com/office/powerpoint/2010/main" val="1041812251"/>
      </p:ext>
    </p:extLst>
  </p:cSld>
  <p:clrMapOvr>
    <a:masterClrMapping/>
  </p:clrMapOvr>
  <mc:AlternateContent xmlns:mc="http://schemas.openxmlformats.org/markup-compatibility/2006" xmlns:p14="http://schemas.microsoft.com/office/powerpoint/2010/main">
    <mc:Choice Requires="p14">
      <p:transition spd="slow" p14:dur="2000" advTm="31325"/>
    </mc:Choice>
    <mc:Fallback xmlns="">
      <p:transition spd="slow" advTm="3132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3ABFD-6920-574D-EB81-120749DB36D4}"/>
              </a:ext>
            </a:extLst>
          </p:cNvPr>
          <p:cNvSpPr>
            <a:spLocks noGrp="1"/>
          </p:cNvSpPr>
          <p:nvPr>
            <p:ph type="title"/>
          </p:nvPr>
        </p:nvSpPr>
        <p:spPr/>
        <p:txBody>
          <a:bodyPr>
            <a:normAutofit/>
          </a:bodyPr>
          <a:lstStyle/>
          <a:p>
            <a:pPr algn="l"/>
            <a:r>
              <a:rPr lang="en-US" sz="3600" dirty="0"/>
              <a:t>About</a:t>
            </a:r>
            <a:br>
              <a:rPr lang="en-US" sz="3600" dirty="0"/>
            </a:br>
            <a:r>
              <a:rPr lang="en-US" sz="3600" dirty="0"/>
              <a:t> </a:t>
            </a:r>
            <a:r>
              <a:rPr lang="en-US" sz="3600" b="1" dirty="0">
                <a:solidFill>
                  <a:schemeClr val="accent5">
                    <a:lumMod val="75000"/>
                  </a:schemeClr>
                </a:solidFill>
                <a:latin typeface="Arial Black" panose="020B0A04020102020204" pitchFamily="34" charset="0"/>
              </a:rPr>
              <a:t>Northwind Traders</a:t>
            </a:r>
            <a:br>
              <a:rPr lang="en-US" sz="3600" b="1" dirty="0">
                <a:solidFill>
                  <a:schemeClr val="accent5">
                    <a:lumMod val="75000"/>
                  </a:schemeClr>
                </a:solidFill>
                <a:latin typeface="Arial Black" panose="020B0A04020102020204" pitchFamily="34" charset="0"/>
              </a:rPr>
            </a:br>
            <a:r>
              <a:rPr lang="en-US" sz="1800" i="1" dirty="0">
                <a:solidFill>
                  <a:schemeClr val="accent5">
                    <a:lumMod val="75000"/>
                  </a:schemeClr>
                </a:solidFill>
              </a:rPr>
              <a:t>Quality isn’t just a word, it’s who we are</a:t>
            </a:r>
            <a:endParaRPr lang="en-US" sz="1800" b="1" i="1" u="sng" dirty="0">
              <a:solidFill>
                <a:schemeClr val="accent5">
                  <a:lumMod val="75000"/>
                </a:schemeClr>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3D5D7320-F0EE-216E-9A35-E8A398D38AE9}"/>
              </a:ext>
            </a:extLst>
          </p:cNvPr>
          <p:cNvSpPr>
            <a:spLocks noGrp="1"/>
          </p:cNvSpPr>
          <p:nvPr>
            <p:ph idx="1"/>
          </p:nvPr>
        </p:nvSpPr>
        <p:spPr/>
        <p:txBody>
          <a:bodyPr/>
          <a:lstStyle/>
          <a:p>
            <a:r>
              <a:rPr lang="en-US" dirty="0"/>
              <a:t>“Northwind Traders is a global wholesaler supply chain with specialty in foods and beverages. With an international customer base and diverse suppliers.</a:t>
            </a:r>
          </a:p>
          <a:p>
            <a:r>
              <a:rPr lang="en-US" dirty="0"/>
              <a:t>We have </a:t>
            </a:r>
            <a:r>
              <a:rPr lang="en-US" dirty="0" err="1"/>
              <a:t>upto</a:t>
            </a:r>
            <a:r>
              <a:rPr lang="en-US" dirty="0"/>
              <a:t> 8 different food categories and 77 different products ,16 different suppliers , 100 unique customers worldwide and 9 multitasking representative handling all over turnover ,with day on day growth in its family, infrastructure ,production“</a:t>
            </a:r>
          </a:p>
        </p:txBody>
      </p:sp>
    </p:spTree>
    <p:extLst>
      <p:ext uri="{BB962C8B-B14F-4D97-AF65-F5344CB8AC3E}">
        <p14:creationId xmlns:p14="http://schemas.microsoft.com/office/powerpoint/2010/main" val="75874182"/>
      </p:ext>
    </p:extLst>
  </p:cSld>
  <p:clrMapOvr>
    <a:masterClrMapping/>
  </p:clrMapOvr>
  <mc:AlternateContent xmlns:mc="http://schemas.openxmlformats.org/markup-compatibility/2006" xmlns:p14="http://schemas.microsoft.com/office/powerpoint/2010/main">
    <mc:Choice Requires="p14">
      <p:transition spd="slow" p14:dur="2000" advTm="46550"/>
    </mc:Choice>
    <mc:Fallback xmlns="">
      <p:transition spd="slow" advTm="4655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TextBox 1">
            <a:extLst>
              <a:ext uri="{FF2B5EF4-FFF2-40B4-BE49-F238E27FC236}">
                <a16:creationId xmlns:a16="http://schemas.microsoft.com/office/drawing/2014/main" id="{5DB8967B-5FD5-8643-126F-2B37603EFCD3}"/>
              </a:ext>
            </a:extLst>
          </p:cNvPr>
          <p:cNvGraphicFramePr/>
          <p:nvPr>
            <p:extLst>
              <p:ext uri="{D42A27DB-BD31-4B8C-83A1-F6EECF244321}">
                <p14:modId xmlns:p14="http://schemas.microsoft.com/office/powerpoint/2010/main" val="3790138443"/>
              </p:ext>
            </p:extLst>
          </p:nvPr>
        </p:nvGraphicFramePr>
        <p:xfrm>
          <a:off x="4425312" y="134911"/>
          <a:ext cx="7109859" cy="67363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749998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53986"/>
    </mc:Choice>
    <mc:Fallback xmlns="">
      <p:transition spd="slow" advTm="5398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3972B6FB-784D-FDA2-5EF9-E8AEAFCEEE5E}"/>
              </a:ext>
            </a:extLst>
          </p:cNvPr>
          <p:cNvPicPr>
            <a:picLocks noChangeAspect="1"/>
          </p:cNvPicPr>
          <p:nvPr/>
        </p:nvPicPr>
        <p:blipFill>
          <a:blip r:embed="rId3"/>
          <a:srcRect b="19"/>
          <a:stretch>
            <a:fillRect/>
          </a:stretch>
        </p:blipFill>
        <p:spPr>
          <a:xfrm>
            <a:off x="539646" y="304130"/>
            <a:ext cx="11112708" cy="6249740"/>
          </a:xfrm>
          <a:prstGeom prst="rect">
            <a:avLst/>
          </a:prstGeom>
        </p:spPr>
      </p:pic>
      <p:sp>
        <p:nvSpPr>
          <p:cNvPr id="3" name="TextBox 2">
            <a:extLst>
              <a:ext uri="{FF2B5EF4-FFF2-40B4-BE49-F238E27FC236}">
                <a16:creationId xmlns:a16="http://schemas.microsoft.com/office/drawing/2014/main" id="{2CF38449-0F9A-17BB-F157-584B2F7E4023}"/>
              </a:ext>
            </a:extLst>
          </p:cNvPr>
          <p:cNvSpPr txBox="1"/>
          <p:nvPr/>
        </p:nvSpPr>
        <p:spPr>
          <a:xfrm>
            <a:off x="644577" y="0"/>
            <a:ext cx="4017364" cy="369332"/>
          </a:xfrm>
          <a:prstGeom prst="rect">
            <a:avLst/>
          </a:prstGeom>
          <a:noFill/>
        </p:spPr>
        <p:txBody>
          <a:bodyPr wrap="square" rtlCol="0">
            <a:spAutoFit/>
          </a:bodyPr>
          <a:lstStyle/>
          <a:p>
            <a:r>
              <a:rPr lang="en-US" dirty="0"/>
              <a:t>ER diagram</a:t>
            </a:r>
          </a:p>
        </p:txBody>
      </p:sp>
    </p:spTree>
    <p:extLst>
      <p:ext uri="{BB962C8B-B14F-4D97-AF65-F5344CB8AC3E}">
        <p14:creationId xmlns:p14="http://schemas.microsoft.com/office/powerpoint/2010/main" val="593066132"/>
      </p:ext>
    </p:extLst>
  </p:cSld>
  <p:clrMapOvr>
    <a:masterClrMapping/>
  </p:clrMapOvr>
  <mc:AlternateContent xmlns:mc="http://schemas.openxmlformats.org/markup-compatibility/2006" xmlns:p14="http://schemas.microsoft.com/office/powerpoint/2010/main">
    <mc:Choice Requires="p14">
      <p:transition spd="slow" p14:dur="2000" advTm="47542"/>
    </mc:Choice>
    <mc:Fallback xmlns="">
      <p:transition spd="slow" advTm="4754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3023C1-D8D8-0A4A-56F3-D9A35D0B0E0E}"/>
              </a:ext>
            </a:extLst>
          </p:cNvPr>
          <p:cNvSpPr txBox="1"/>
          <p:nvPr/>
        </p:nvSpPr>
        <p:spPr>
          <a:xfrm>
            <a:off x="294968" y="147484"/>
            <a:ext cx="6872748" cy="523220"/>
          </a:xfrm>
          <a:prstGeom prst="rect">
            <a:avLst/>
          </a:prstGeom>
          <a:noFill/>
        </p:spPr>
        <p:txBody>
          <a:bodyPr wrap="square" rtlCol="0">
            <a:spAutoFit/>
          </a:bodyPr>
          <a:lstStyle/>
          <a:p>
            <a:r>
              <a:rPr lang="en-US" sz="2800" b="1" u="sng" dirty="0"/>
              <a:t>Step by step procedure for </a:t>
            </a:r>
            <a:r>
              <a:rPr lang="en-US" sz="2800" b="1" u="sng" dirty="0" err="1"/>
              <a:t>sales_analysis</a:t>
            </a:r>
            <a:endParaRPr lang="en-US" sz="2800" b="1" u="sng" dirty="0"/>
          </a:p>
        </p:txBody>
      </p:sp>
      <p:sp>
        <p:nvSpPr>
          <p:cNvPr id="4" name="TextBox 3">
            <a:extLst>
              <a:ext uri="{FF2B5EF4-FFF2-40B4-BE49-F238E27FC236}">
                <a16:creationId xmlns:a16="http://schemas.microsoft.com/office/drawing/2014/main" id="{066B4E72-18A8-0894-81E6-A936094CCDA3}"/>
              </a:ext>
            </a:extLst>
          </p:cNvPr>
          <p:cNvSpPr txBox="1"/>
          <p:nvPr/>
        </p:nvSpPr>
        <p:spPr>
          <a:xfrm>
            <a:off x="1460654" y="767556"/>
            <a:ext cx="9270691" cy="1323439"/>
          </a:xfrm>
          <a:prstGeom prst="rect">
            <a:avLst/>
          </a:prstGeom>
          <a:noFill/>
        </p:spPr>
        <p:txBody>
          <a:bodyPr wrap="square" rtlCol="0">
            <a:spAutoFit/>
          </a:bodyPr>
          <a:lstStyle/>
          <a:p>
            <a:r>
              <a:rPr lang="en-US" sz="2000" b="1" dirty="0"/>
              <a:t>Step1-Data cleaning</a:t>
            </a:r>
            <a:endParaRPr lang="en-US" sz="2000" dirty="0"/>
          </a:p>
          <a:p>
            <a:pPr marL="342900" lvl="0" indent="-342900">
              <a:buFont typeface="Arial" panose="020B0604020202020204" pitchFamily="34" charset="0"/>
              <a:buChar char="•"/>
            </a:pPr>
            <a:r>
              <a:rPr lang="en-US" sz="2000" dirty="0"/>
              <a:t>Removed duplicates</a:t>
            </a:r>
          </a:p>
          <a:p>
            <a:pPr marL="342900" indent="-342900">
              <a:buFont typeface="Arial" panose="020B0604020202020204" pitchFamily="34" charset="0"/>
              <a:buChar char="•"/>
            </a:pPr>
            <a:r>
              <a:rPr lang="en-US" sz="2000" dirty="0"/>
              <a:t>Replaced nulls with mean/mode/median values</a:t>
            </a:r>
          </a:p>
          <a:p>
            <a:pPr marL="342900" indent="-342900">
              <a:buFont typeface="Arial" panose="020B0604020202020204" pitchFamily="34" charset="0"/>
              <a:buChar char="•"/>
            </a:pPr>
            <a:r>
              <a:rPr lang="en-US" sz="2000" dirty="0"/>
              <a:t>Removed irrelated columns </a:t>
            </a:r>
          </a:p>
        </p:txBody>
      </p:sp>
      <p:sp>
        <p:nvSpPr>
          <p:cNvPr id="7" name="TextBox 6">
            <a:extLst>
              <a:ext uri="{FF2B5EF4-FFF2-40B4-BE49-F238E27FC236}">
                <a16:creationId xmlns:a16="http://schemas.microsoft.com/office/drawing/2014/main" id="{E862B810-DCA6-5E3E-A381-4CCED306CCDA}"/>
              </a:ext>
            </a:extLst>
          </p:cNvPr>
          <p:cNvSpPr txBox="1"/>
          <p:nvPr/>
        </p:nvSpPr>
        <p:spPr>
          <a:xfrm>
            <a:off x="1460653" y="2413337"/>
            <a:ext cx="9270691" cy="1015663"/>
          </a:xfrm>
          <a:prstGeom prst="rect">
            <a:avLst/>
          </a:prstGeom>
          <a:noFill/>
        </p:spPr>
        <p:txBody>
          <a:bodyPr wrap="square">
            <a:spAutoFit/>
          </a:bodyPr>
          <a:lstStyle/>
          <a:p>
            <a:r>
              <a:rPr lang="en-US" sz="2000" b="1" dirty="0"/>
              <a:t>Step2-Data analysis in MYSQL</a:t>
            </a:r>
          </a:p>
          <a:p>
            <a:pPr marL="285750" indent="-285750">
              <a:buFont typeface="Arial" panose="020B0604020202020204" pitchFamily="34" charset="0"/>
              <a:buChar char="•"/>
            </a:pPr>
            <a:r>
              <a:rPr lang="en-US" sz="2000" dirty="0"/>
              <a:t>Imported all 8 data csv folders then perform further cleaning if needed</a:t>
            </a:r>
          </a:p>
          <a:p>
            <a:pPr marL="285750" indent="-285750">
              <a:buFont typeface="Arial" panose="020B0604020202020204" pitchFamily="34" charset="0"/>
              <a:buChar char="•"/>
            </a:pPr>
            <a:r>
              <a:rPr lang="en-US" sz="2000" dirty="0"/>
              <a:t>Performed EDA in MYSQL</a:t>
            </a:r>
          </a:p>
        </p:txBody>
      </p:sp>
    </p:spTree>
    <p:extLst>
      <p:ext uri="{BB962C8B-B14F-4D97-AF65-F5344CB8AC3E}">
        <p14:creationId xmlns:p14="http://schemas.microsoft.com/office/powerpoint/2010/main" val="288640770"/>
      </p:ext>
    </p:extLst>
  </p:cSld>
  <p:clrMapOvr>
    <a:masterClrMapping/>
  </p:clrMapOvr>
  <mc:AlternateContent xmlns:mc="http://schemas.openxmlformats.org/markup-compatibility/2006" xmlns:p14="http://schemas.microsoft.com/office/powerpoint/2010/main">
    <mc:Choice Requires="p14">
      <p:transition spd="slow" p14:dur="2000" advTm="38316"/>
    </mc:Choice>
    <mc:Fallback xmlns="">
      <p:transition spd="slow" advTm="3831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D555F7-BC78-2034-10F8-061448643BD1}"/>
              </a:ext>
            </a:extLst>
          </p:cNvPr>
          <p:cNvSpPr txBox="1"/>
          <p:nvPr/>
        </p:nvSpPr>
        <p:spPr>
          <a:xfrm>
            <a:off x="1415845" y="530942"/>
            <a:ext cx="10220632" cy="4985980"/>
          </a:xfrm>
          <a:prstGeom prst="rect">
            <a:avLst/>
          </a:prstGeom>
          <a:noFill/>
        </p:spPr>
        <p:txBody>
          <a:bodyPr wrap="square" rtlCol="0">
            <a:spAutoFit/>
          </a:bodyPr>
          <a:lstStyle/>
          <a:p>
            <a:pPr lvl="0"/>
            <a:r>
              <a:rPr lang="en-US" sz="2000" b="1" u="sng" dirty="0"/>
              <a:t>Step3-EDA in excel</a:t>
            </a:r>
            <a:endParaRPr lang="en-US" sz="2000" dirty="0"/>
          </a:p>
          <a:p>
            <a:pPr marL="342900" lvl="0" indent="-342900">
              <a:buFont typeface="Arial" panose="020B0604020202020204" pitchFamily="34" charset="0"/>
              <a:buChar char="•"/>
            </a:pPr>
            <a:r>
              <a:rPr lang="en-US" sz="2000" dirty="0"/>
              <a:t>  Imported same 8 files power query  </a:t>
            </a:r>
          </a:p>
          <a:p>
            <a:pPr marL="342900" lvl="0" indent="-342900">
              <a:buFont typeface="Arial" panose="020B0604020202020204" pitchFamily="34" charset="0"/>
              <a:buChar char="•"/>
            </a:pPr>
            <a:r>
              <a:rPr lang="en-US" sz="2000" dirty="0"/>
              <a:t> added them to data model  and performed data modelling ,joined those table together on used one to many relationships.</a:t>
            </a:r>
          </a:p>
          <a:p>
            <a:pPr marL="342900" lvl="0" indent="-342900">
              <a:buFont typeface="Arial" panose="020B0604020202020204" pitchFamily="34" charset="0"/>
              <a:buChar char="•"/>
            </a:pPr>
            <a:r>
              <a:rPr lang="en-US" sz="2000" dirty="0"/>
              <a:t>Created data dictionary for files</a:t>
            </a:r>
          </a:p>
          <a:p>
            <a:pPr marL="342900" lvl="0" indent="-342900">
              <a:buFont typeface="Arial" panose="020B0604020202020204" pitchFamily="34" charset="0"/>
              <a:buChar char="•"/>
            </a:pPr>
            <a:r>
              <a:rPr lang="en-US" sz="2000" dirty="0"/>
              <a:t> find out same answer in pivot table ,then performed charting of final output.</a:t>
            </a:r>
          </a:p>
          <a:p>
            <a:pPr marL="342900" lvl="0" indent="-342900">
              <a:buFont typeface="Arial" panose="020B0604020202020204" pitchFamily="34" charset="0"/>
              <a:buChar char="•"/>
            </a:pPr>
            <a:endParaRPr lang="en-US" sz="2000" dirty="0"/>
          </a:p>
          <a:p>
            <a:pPr indent="-342900">
              <a:buFont typeface="Arial" panose="020B0604020202020204" pitchFamily="34" charset="0"/>
              <a:buChar char="•"/>
            </a:pPr>
            <a:r>
              <a:rPr lang="en-US" sz="2000" b="1" u="sng" dirty="0"/>
              <a:t>Step4-EDA in power bi</a:t>
            </a:r>
          </a:p>
          <a:p>
            <a:pPr marL="342900" lvl="0" indent="-342900">
              <a:buFont typeface="Arial" panose="020B0604020202020204" pitchFamily="34" charset="0"/>
              <a:buChar char="•"/>
            </a:pPr>
            <a:r>
              <a:rPr lang="en-US" sz="2000" dirty="0"/>
              <a:t>Imported same 8 cleaned csv files in </a:t>
            </a:r>
            <a:r>
              <a:rPr lang="en-US" sz="2000" dirty="0" err="1"/>
              <a:t>powerbi</a:t>
            </a:r>
            <a:r>
              <a:rPr lang="en-US" sz="2000" dirty="0"/>
              <a:t>, performed ETL in power Query editor</a:t>
            </a:r>
          </a:p>
          <a:p>
            <a:pPr marL="342900" lvl="0" indent="-342900">
              <a:buFont typeface="Arial" panose="020B0604020202020204" pitchFamily="34" charset="0"/>
              <a:buChar char="•"/>
            </a:pPr>
            <a:r>
              <a:rPr lang="en-US" sz="2000" dirty="0"/>
              <a:t>Changed data type if needed.</a:t>
            </a:r>
          </a:p>
          <a:p>
            <a:pPr marL="342900" lvl="0" indent="-342900">
              <a:buFont typeface="Arial" panose="020B0604020202020204" pitchFamily="34" charset="0"/>
              <a:buChar char="•"/>
            </a:pPr>
            <a:r>
              <a:rPr lang="en-US" sz="2000" dirty="0"/>
              <a:t>Created calculated columns, Measured columns if needed.</a:t>
            </a:r>
          </a:p>
          <a:p>
            <a:pPr marL="342900" lvl="0" indent="-342900">
              <a:buFont typeface="Arial" panose="020B0604020202020204" pitchFamily="34" charset="0"/>
              <a:buChar char="•"/>
            </a:pPr>
            <a:r>
              <a:rPr lang="en-US" sz="2000" dirty="0"/>
              <a:t>Created ‘bins range’ columns for different histograms</a:t>
            </a:r>
          </a:p>
          <a:p>
            <a:pPr marL="342900" lvl="0" indent="-342900">
              <a:buFont typeface="Arial" panose="020B0604020202020204" pitchFamily="34" charset="0"/>
              <a:buChar char="•"/>
            </a:pPr>
            <a:r>
              <a:rPr lang="en-US" sz="2000" dirty="0"/>
              <a:t>Made use of different types of charts as requirement like line </a:t>
            </a:r>
            <a:r>
              <a:rPr lang="en-US" sz="2000" dirty="0" err="1"/>
              <a:t>chart,scatter</a:t>
            </a:r>
            <a:r>
              <a:rPr lang="en-US" sz="2000" dirty="0"/>
              <a:t> </a:t>
            </a:r>
            <a:r>
              <a:rPr lang="en-US" sz="2000" dirty="0" err="1"/>
              <a:t>chart,clustered</a:t>
            </a:r>
            <a:r>
              <a:rPr lang="en-US" sz="2000" dirty="0"/>
              <a:t> bar/</a:t>
            </a:r>
            <a:r>
              <a:rPr lang="en-US" sz="2000" dirty="0" err="1"/>
              <a:t>column,stack</a:t>
            </a:r>
            <a:r>
              <a:rPr lang="en-US" sz="2000" dirty="0"/>
              <a:t> bar/column </a:t>
            </a:r>
            <a:r>
              <a:rPr lang="en-US" sz="2000" dirty="0" err="1"/>
              <a:t>chart,map</a:t>
            </a:r>
            <a:r>
              <a:rPr lang="en-US" sz="2000" dirty="0"/>
              <a:t> chart ,box plot chart </a:t>
            </a:r>
            <a:r>
              <a:rPr lang="en-US" sz="2000" dirty="0" err="1"/>
              <a:t>etc</a:t>
            </a:r>
            <a:endParaRPr lang="en-US" sz="2000" dirty="0"/>
          </a:p>
          <a:p>
            <a:pPr marL="342900" lvl="0" indent="-342900">
              <a:buFont typeface="Arial" panose="020B0604020202020204" pitchFamily="34" charset="0"/>
              <a:buChar char="•"/>
            </a:pPr>
            <a:r>
              <a:rPr lang="en-US" sz="2000" dirty="0"/>
              <a:t>Finaly made appealing Dashboards out of that insights.</a:t>
            </a:r>
          </a:p>
          <a:p>
            <a:pPr marL="285750" lvl="0" indent="-285750">
              <a:buFont typeface="Arial" panose="020B0604020202020204" pitchFamily="34" charset="0"/>
              <a:buChar char="•"/>
            </a:pPr>
            <a:endParaRPr lang="en-US" dirty="0"/>
          </a:p>
        </p:txBody>
      </p:sp>
    </p:spTree>
    <p:extLst>
      <p:ext uri="{BB962C8B-B14F-4D97-AF65-F5344CB8AC3E}">
        <p14:creationId xmlns:p14="http://schemas.microsoft.com/office/powerpoint/2010/main" val="4169821136"/>
      </p:ext>
    </p:extLst>
  </p:cSld>
  <p:clrMapOvr>
    <a:masterClrMapping/>
  </p:clrMapOvr>
  <mc:AlternateContent xmlns:mc="http://schemas.openxmlformats.org/markup-compatibility/2006" xmlns:p14="http://schemas.microsoft.com/office/powerpoint/2010/main">
    <mc:Choice Requires="p14">
      <p:transition spd="slow" p14:dur="2000" advTm="78774"/>
    </mc:Choice>
    <mc:Fallback xmlns="">
      <p:transition spd="slow" advTm="7877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C9D701-0823-543E-EFD7-250C21D54DD1}"/>
              </a:ext>
            </a:extLst>
          </p:cNvPr>
          <p:cNvPicPr>
            <a:picLocks noChangeAspect="1"/>
          </p:cNvPicPr>
          <p:nvPr/>
        </p:nvPicPr>
        <p:blipFill>
          <a:blip r:embed="rId3"/>
          <a:srcRect t="899"/>
          <a:stretch>
            <a:fillRect/>
          </a:stretch>
        </p:blipFill>
        <p:spPr>
          <a:xfrm>
            <a:off x="1430593" y="830710"/>
            <a:ext cx="9792929" cy="5196582"/>
          </a:xfrm>
          <a:prstGeom prst="rect">
            <a:avLst/>
          </a:prstGeom>
        </p:spPr>
      </p:pic>
      <p:sp>
        <p:nvSpPr>
          <p:cNvPr id="9" name="TextBox 8">
            <a:extLst>
              <a:ext uri="{FF2B5EF4-FFF2-40B4-BE49-F238E27FC236}">
                <a16:creationId xmlns:a16="http://schemas.microsoft.com/office/drawing/2014/main" id="{52522F0F-0623-19DE-E996-41AEC43CB100}"/>
              </a:ext>
            </a:extLst>
          </p:cNvPr>
          <p:cNvSpPr txBox="1"/>
          <p:nvPr/>
        </p:nvSpPr>
        <p:spPr>
          <a:xfrm>
            <a:off x="1681316" y="0"/>
            <a:ext cx="3265438" cy="923330"/>
          </a:xfrm>
          <a:prstGeom prst="rect">
            <a:avLst/>
          </a:prstGeom>
          <a:noFill/>
        </p:spPr>
        <p:txBody>
          <a:bodyPr wrap="square" rtlCol="0">
            <a:spAutoFit/>
          </a:bodyPr>
          <a:lstStyle/>
          <a:p>
            <a:endParaRPr lang="en-US" b="1" dirty="0"/>
          </a:p>
          <a:p>
            <a:r>
              <a:rPr lang="en-US" b="1" dirty="0"/>
              <a:t>Sales analysis dashboard 1</a:t>
            </a:r>
          </a:p>
          <a:p>
            <a:endParaRPr lang="en-US" dirty="0"/>
          </a:p>
        </p:txBody>
      </p:sp>
    </p:spTree>
    <p:extLst>
      <p:ext uri="{BB962C8B-B14F-4D97-AF65-F5344CB8AC3E}">
        <p14:creationId xmlns:p14="http://schemas.microsoft.com/office/powerpoint/2010/main" val="1467862630"/>
      </p:ext>
    </p:extLst>
  </p:cSld>
  <p:clrMapOvr>
    <a:masterClrMapping/>
  </p:clrMapOvr>
  <mc:AlternateContent xmlns:mc="http://schemas.openxmlformats.org/markup-compatibility/2006" xmlns:p14="http://schemas.microsoft.com/office/powerpoint/2010/main">
    <mc:Choice Requires="p14">
      <p:transition spd="slow" p14:dur="2000" advTm="29546"/>
    </mc:Choice>
    <mc:Fallback xmlns="">
      <p:transition spd="slow" advTm="2954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B4CF48-DF43-87F0-F151-BAF573772AB1}"/>
              </a:ext>
            </a:extLst>
          </p:cNvPr>
          <p:cNvSpPr txBox="1"/>
          <p:nvPr/>
        </p:nvSpPr>
        <p:spPr>
          <a:xfrm>
            <a:off x="1578076" y="115137"/>
            <a:ext cx="3892849" cy="400110"/>
          </a:xfrm>
          <a:prstGeom prst="rect">
            <a:avLst/>
          </a:prstGeom>
          <a:noFill/>
        </p:spPr>
        <p:txBody>
          <a:bodyPr wrap="square" rtlCol="0">
            <a:spAutoFit/>
          </a:bodyPr>
          <a:lstStyle/>
          <a:p>
            <a:r>
              <a:rPr lang="en-US" sz="2000" b="1" dirty="0"/>
              <a:t>Sales analysis dashboard 2</a:t>
            </a:r>
          </a:p>
        </p:txBody>
      </p:sp>
      <p:pic>
        <p:nvPicPr>
          <p:cNvPr id="9" name="Picture 8">
            <a:extLst>
              <a:ext uri="{FF2B5EF4-FFF2-40B4-BE49-F238E27FC236}">
                <a16:creationId xmlns:a16="http://schemas.microsoft.com/office/drawing/2014/main" id="{5B301C94-7EE6-1F17-7863-32E978AD4395}"/>
              </a:ext>
            </a:extLst>
          </p:cNvPr>
          <p:cNvPicPr>
            <a:picLocks noChangeAspect="1"/>
          </p:cNvPicPr>
          <p:nvPr/>
        </p:nvPicPr>
        <p:blipFill>
          <a:blip r:embed="rId2"/>
          <a:stretch>
            <a:fillRect/>
          </a:stretch>
        </p:blipFill>
        <p:spPr>
          <a:xfrm>
            <a:off x="1578076" y="946123"/>
            <a:ext cx="9379976" cy="5231363"/>
          </a:xfrm>
          <a:prstGeom prst="rect">
            <a:avLst/>
          </a:prstGeom>
        </p:spPr>
      </p:pic>
    </p:spTree>
    <p:extLst>
      <p:ext uri="{BB962C8B-B14F-4D97-AF65-F5344CB8AC3E}">
        <p14:creationId xmlns:p14="http://schemas.microsoft.com/office/powerpoint/2010/main" val="1869308417"/>
      </p:ext>
    </p:extLst>
  </p:cSld>
  <p:clrMapOvr>
    <a:masterClrMapping/>
  </p:clrMapOvr>
  <mc:AlternateContent xmlns:mc="http://schemas.openxmlformats.org/markup-compatibility/2006" xmlns:p14="http://schemas.microsoft.com/office/powerpoint/2010/main">
    <mc:Choice Requires="p14">
      <p:transition spd="slow" p14:dur="2000" advTm="22324"/>
    </mc:Choice>
    <mc:Fallback xmlns="">
      <p:transition spd="slow" advTm="2232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8BE243-EC4F-7D53-AD9D-D60CB827A65D}"/>
              </a:ext>
            </a:extLst>
          </p:cNvPr>
          <p:cNvSpPr txBox="1"/>
          <p:nvPr/>
        </p:nvSpPr>
        <p:spPr>
          <a:xfrm>
            <a:off x="1533832" y="115137"/>
            <a:ext cx="3937094" cy="400110"/>
          </a:xfrm>
          <a:prstGeom prst="rect">
            <a:avLst/>
          </a:prstGeom>
          <a:noFill/>
        </p:spPr>
        <p:txBody>
          <a:bodyPr wrap="square" rtlCol="0">
            <a:spAutoFit/>
          </a:bodyPr>
          <a:lstStyle/>
          <a:p>
            <a:r>
              <a:rPr lang="en-US" sz="2000" b="1" dirty="0"/>
              <a:t>Sales analysis dashboard 3</a:t>
            </a:r>
          </a:p>
        </p:txBody>
      </p:sp>
      <p:pic>
        <p:nvPicPr>
          <p:cNvPr id="11" name="Picture 10">
            <a:extLst>
              <a:ext uri="{FF2B5EF4-FFF2-40B4-BE49-F238E27FC236}">
                <a16:creationId xmlns:a16="http://schemas.microsoft.com/office/drawing/2014/main" id="{E1D549B1-938F-5BEE-E387-7432FB008FCE}"/>
              </a:ext>
            </a:extLst>
          </p:cNvPr>
          <p:cNvPicPr>
            <a:picLocks noChangeAspect="1"/>
          </p:cNvPicPr>
          <p:nvPr/>
        </p:nvPicPr>
        <p:blipFill>
          <a:blip r:embed="rId2"/>
          <a:stretch>
            <a:fillRect/>
          </a:stretch>
        </p:blipFill>
        <p:spPr>
          <a:xfrm>
            <a:off x="1397253" y="987783"/>
            <a:ext cx="8347331" cy="4631352"/>
          </a:xfrm>
          <a:prstGeom prst="rect">
            <a:avLst/>
          </a:prstGeom>
        </p:spPr>
      </p:pic>
    </p:spTree>
    <p:extLst>
      <p:ext uri="{BB962C8B-B14F-4D97-AF65-F5344CB8AC3E}">
        <p14:creationId xmlns:p14="http://schemas.microsoft.com/office/powerpoint/2010/main" val="1150803910"/>
      </p:ext>
    </p:extLst>
  </p:cSld>
  <p:clrMapOvr>
    <a:masterClrMapping/>
  </p:clrMapOvr>
  <mc:AlternateContent xmlns:mc="http://schemas.openxmlformats.org/markup-compatibility/2006" xmlns:p14="http://schemas.microsoft.com/office/powerpoint/2010/main">
    <mc:Choice Requires="p14">
      <p:transition spd="slow" p14:dur="2000" advTm="25951"/>
    </mc:Choice>
    <mc:Fallback xmlns="">
      <p:transition spd="slow" advTm="2595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3A909C-4664-881C-5B5A-6B0FEE863C64}"/>
              </a:ext>
            </a:extLst>
          </p:cNvPr>
          <p:cNvSpPr txBox="1"/>
          <p:nvPr/>
        </p:nvSpPr>
        <p:spPr>
          <a:xfrm>
            <a:off x="1828800" y="0"/>
            <a:ext cx="9571703" cy="7417415"/>
          </a:xfrm>
          <a:prstGeom prst="rect">
            <a:avLst/>
          </a:prstGeom>
          <a:noFill/>
        </p:spPr>
        <p:txBody>
          <a:bodyPr wrap="square" rtlCol="0">
            <a:spAutoFit/>
          </a:bodyPr>
          <a:lstStyle/>
          <a:p>
            <a:r>
              <a:rPr lang="en-US" sz="2800" dirty="0"/>
              <a:t>Key Findings-</a:t>
            </a:r>
          </a:p>
          <a:p>
            <a:endParaRPr lang="en-US" sz="2800" dirty="0"/>
          </a:p>
          <a:p>
            <a:pPr>
              <a:buFont typeface="Arial" panose="020B0604020202020204" pitchFamily="34" charset="0"/>
              <a:buChar char="•"/>
            </a:pPr>
            <a:r>
              <a:rPr lang="en-US" sz="2000" b="1" dirty="0"/>
              <a:t>Sales Performance:</a:t>
            </a:r>
            <a:r>
              <a:rPr lang="en-US" sz="2000" dirty="0"/>
              <a:t> Certain countries like USA and product categories like Beverages are consistently drive higher sales, indicating areas of strong market demand.</a:t>
            </a:r>
          </a:p>
          <a:p>
            <a:endParaRPr lang="en-US" sz="2000" dirty="0"/>
          </a:p>
          <a:p>
            <a:pPr>
              <a:buFont typeface="Arial" panose="020B0604020202020204" pitchFamily="34" charset="0"/>
              <a:buChar char="•"/>
            </a:pPr>
            <a:r>
              <a:rPr lang="en-US" sz="2000" b="1" dirty="0"/>
              <a:t>Customer Behavior:</a:t>
            </a:r>
            <a:r>
              <a:rPr lang="en-US" sz="2000" dirty="0"/>
              <a:t> A small group of loyal customers with customer id-QUICK,SAVEA,FRNSH contributes significantly to overall revenue.</a:t>
            </a:r>
          </a:p>
          <a:p>
            <a:endParaRPr lang="en-US" sz="2000" dirty="0"/>
          </a:p>
          <a:p>
            <a:pPr>
              <a:buFont typeface="Arial" panose="020B0604020202020204" pitchFamily="34" charset="0"/>
              <a:buChar char="•"/>
            </a:pPr>
            <a:r>
              <a:rPr lang="en-US" sz="2000" b="1" dirty="0"/>
              <a:t>Employee performance </a:t>
            </a:r>
            <a:r>
              <a:rPr lang="en-US" sz="2000" dirty="0"/>
              <a:t>–Employees with ids-1,3,4,8 have contributed well to higher order count. Employee performance varies significantly across regions, </a:t>
            </a:r>
          </a:p>
          <a:p>
            <a:endParaRPr lang="en-US" sz="2000" dirty="0"/>
          </a:p>
          <a:p>
            <a:pPr>
              <a:buFont typeface="Arial" panose="020B0604020202020204" pitchFamily="34" charset="0"/>
              <a:buChar char="•"/>
            </a:pPr>
            <a:r>
              <a:rPr lang="en-US" sz="2000" b="1" dirty="0"/>
              <a:t>Yearly performance</a:t>
            </a:r>
            <a:r>
              <a:rPr lang="en-US" sz="2000" dirty="0"/>
              <a:t>-Considering all 3 years 1994 has 121 order count,1995 has 391 order count,1996 has 318 order count</a:t>
            </a:r>
          </a:p>
          <a:p>
            <a:pPr>
              <a:buFont typeface="Arial" panose="020B0604020202020204" pitchFamily="34" charset="0"/>
              <a:buChar char="•"/>
            </a:pPr>
            <a:endParaRPr lang="en-US" sz="2000" dirty="0"/>
          </a:p>
          <a:p>
            <a:pPr>
              <a:buFont typeface="Arial" panose="020B0604020202020204" pitchFamily="34" charset="0"/>
              <a:buChar char="•"/>
            </a:pPr>
            <a:r>
              <a:rPr lang="en-US" sz="2000" b="1" dirty="0"/>
              <a:t>Uncovered Till now-</a:t>
            </a:r>
          </a:p>
          <a:p>
            <a:r>
              <a:rPr lang="en-US" sz="2000" dirty="0"/>
              <a:t>total orders-830</a:t>
            </a:r>
          </a:p>
          <a:p>
            <a:r>
              <a:rPr lang="en-US" sz="2000" dirty="0"/>
              <a:t>Total sale-1.2 ML</a:t>
            </a:r>
          </a:p>
          <a:p>
            <a:r>
              <a:rPr lang="en-US" sz="2000" dirty="0"/>
              <a:t>Avg order/cust-9</a:t>
            </a:r>
          </a:p>
          <a:p>
            <a:r>
              <a:rPr lang="en-US" sz="2000" dirty="0"/>
              <a:t>Avg shipping duration-8days</a:t>
            </a:r>
          </a:p>
          <a:p>
            <a:r>
              <a:rPr lang="en-US" sz="2000" dirty="0"/>
              <a:t>Avg price/product=$28.8</a:t>
            </a:r>
          </a:p>
          <a:p>
            <a:r>
              <a:rPr lang="en-US" sz="2000" dirty="0"/>
              <a:t>Total customers-89</a:t>
            </a:r>
          </a:p>
          <a:p>
            <a:endParaRPr lang="en-US" sz="2000" dirty="0"/>
          </a:p>
          <a:p>
            <a:endParaRPr lang="en-US" sz="2000" dirty="0"/>
          </a:p>
        </p:txBody>
      </p:sp>
    </p:spTree>
    <p:extLst>
      <p:ext uri="{BB962C8B-B14F-4D97-AF65-F5344CB8AC3E}">
        <p14:creationId xmlns:p14="http://schemas.microsoft.com/office/powerpoint/2010/main" val="1077141126"/>
      </p:ext>
    </p:extLst>
  </p:cSld>
  <p:clrMapOvr>
    <a:masterClrMapping/>
  </p:clrMapOvr>
  <mc:AlternateContent xmlns:mc="http://schemas.openxmlformats.org/markup-compatibility/2006" xmlns:p14="http://schemas.microsoft.com/office/powerpoint/2010/main">
    <mc:Choice Requires="p14">
      <p:transition spd="slow" p14:dur="2000" advTm="98533"/>
    </mc:Choice>
    <mc:Fallback xmlns="">
      <p:transition spd="slow" advTm="9853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6710117-7B62-6E40-B534-2276CE98024D}"/>
              </a:ext>
            </a:extLst>
          </p:cNvPr>
          <p:cNvSpPr txBox="1"/>
          <p:nvPr/>
        </p:nvSpPr>
        <p:spPr>
          <a:xfrm>
            <a:off x="1445340" y="1490392"/>
            <a:ext cx="9748685" cy="2616101"/>
          </a:xfrm>
          <a:prstGeom prst="rect">
            <a:avLst/>
          </a:prstGeom>
          <a:noFill/>
        </p:spPr>
        <p:txBody>
          <a:bodyPr wrap="square">
            <a:spAutoFit/>
          </a:bodyPr>
          <a:lstStyle/>
          <a:p>
            <a:pPr>
              <a:buNone/>
            </a:pPr>
            <a:r>
              <a:rPr lang="en-US" sz="2400" dirty="0"/>
              <a:t>suggestions to improve Overall sale-</a:t>
            </a:r>
          </a:p>
          <a:p>
            <a:pPr marL="342900" indent="-342900">
              <a:buFont typeface="Arial" panose="020B0604020202020204" pitchFamily="34" charset="0"/>
              <a:buChar char="•"/>
            </a:pPr>
            <a:r>
              <a:rPr lang="en-US" sz="2000" b="1" dirty="0"/>
              <a:t> giveaways</a:t>
            </a:r>
            <a:r>
              <a:rPr lang="en-US" sz="2000" dirty="0"/>
              <a:t> -discounts ,offers should be given to customers in the region/country which has less sale </a:t>
            </a:r>
          </a:p>
          <a:p>
            <a:pPr marL="342900" indent="-342900">
              <a:buFont typeface="Arial" panose="020B0604020202020204" pitchFamily="34" charset="0"/>
              <a:buChar char="•"/>
            </a:pPr>
            <a:r>
              <a:rPr lang="en-US" sz="2000" b="1" dirty="0"/>
              <a:t>Campaigning</a:t>
            </a:r>
            <a:r>
              <a:rPr lang="en-US" sz="2000" dirty="0"/>
              <a:t> –should be done to inform about various products and categories</a:t>
            </a:r>
          </a:p>
          <a:p>
            <a:pPr>
              <a:buFont typeface="Arial" panose="020B0604020202020204" pitchFamily="34" charset="0"/>
              <a:buChar char="•"/>
            </a:pPr>
            <a:r>
              <a:rPr lang="en-US" sz="2000" b="1" dirty="0"/>
              <a:t>     Employee Productivity:</a:t>
            </a:r>
            <a:r>
              <a:rPr lang="en-US" sz="2000" dirty="0"/>
              <a:t> Should provide training or incentive programs.</a:t>
            </a:r>
          </a:p>
          <a:p>
            <a:pPr>
              <a:buFont typeface="Arial" panose="020B0604020202020204" pitchFamily="34" charset="0"/>
              <a:buChar char="•"/>
            </a:pPr>
            <a:r>
              <a:rPr lang="en-US" sz="2000" b="1" dirty="0"/>
              <a:t>      Inventory Trends:</a:t>
            </a:r>
            <a:r>
              <a:rPr lang="en-US" sz="2000" dirty="0"/>
              <a:t>  optimized stock management is needed according to requirements of products</a:t>
            </a:r>
          </a:p>
          <a:p>
            <a:pPr>
              <a:buFont typeface="Arial" panose="020B0604020202020204" pitchFamily="34" charset="0"/>
              <a:buChar char="•"/>
            </a:pPr>
            <a:r>
              <a:rPr lang="en-US" sz="2000" b="1" dirty="0"/>
              <a:t>      Shipping duration</a:t>
            </a:r>
            <a:r>
              <a:rPr lang="en-US" sz="2000" dirty="0"/>
              <a:t>-avg. shipping duration is 8 days ,which should minimized</a:t>
            </a:r>
          </a:p>
        </p:txBody>
      </p:sp>
    </p:spTree>
    <p:extLst>
      <p:ext uri="{BB962C8B-B14F-4D97-AF65-F5344CB8AC3E}">
        <p14:creationId xmlns:p14="http://schemas.microsoft.com/office/powerpoint/2010/main" val="3686625886"/>
      </p:ext>
    </p:extLst>
  </p:cSld>
  <p:clrMapOvr>
    <a:masterClrMapping/>
  </p:clrMapOvr>
  <mc:AlternateContent xmlns:mc="http://schemas.openxmlformats.org/markup-compatibility/2006" xmlns:p14="http://schemas.microsoft.com/office/powerpoint/2010/main">
    <mc:Choice Requires="p14">
      <p:transition spd="slow" p14:dur="2000" advTm="44558"/>
    </mc:Choice>
    <mc:Fallback xmlns="">
      <p:transition spd="slow" advTm="4455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7007F4-C393-AC19-67D6-8D3C189B9123}"/>
              </a:ext>
            </a:extLst>
          </p:cNvPr>
          <p:cNvSpPr txBox="1"/>
          <p:nvPr/>
        </p:nvSpPr>
        <p:spPr>
          <a:xfrm>
            <a:off x="1725559" y="191729"/>
            <a:ext cx="9630699" cy="3539430"/>
          </a:xfrm>
          <a:prstGeom prst="rect">
            <a:avLst/>
          </a:prstGeom>
          <a:noFill/>
        </p:spPr>
        <p:txBody>
          <a:bodyPr wrap="square">
            <a:spAutoFit/>
          </a:bodyPr>
          <a:lstStyle/>
          <a:p>
            <a:pPr>
              <a:buNone/>
            </a:pPr>
            <a:r>
              <a:rPr lang="en-US" sz="2400" b="1" u="sng" dirty="0"/>
              <a:t>Conclusion</a:t>
            </a:r>
          </a:p>
          <a:p>
            <a:pPr>
              <a:buNone/>
            </a:pPr>
            <a:r>
              <a:rPr lang="en-US" sz="2000" dirty="0"/>
              <a:t>The Northwind Traders Sales Analysis project successfully integrated and analyzed data from multiple sources — including customers, orders, products, order details, suppliers </a:t>
            </a:r>
            <a:r>
              <a:rPr lang="en-US" sz="2000" dirty="0" err="1"/>
              <a:t>etc</a:t>
            </a:r>
            <a:r>
              <a:rPr lang="en-US" sz="2000" dirty="0"/>
              <a:t> — to generate meaningful business insights. Through structured data cleaning and transformation in Excel and SQL, inconsistencies were resolved, and relationships across datasets were clearly established.</a:t>
            </a:r>
          </a:p>
          <a:p>
            <a:pPr>
              <a:buNone/>
            </a:pPr>
            <a:r>
              <a:rPr lang="en-US" sz="2000" dirty="0"/>
              <a:t>Exploratory Data Analysis (EDA) revealed key sales trends, customer purchase patterns, and product performance indicators. Power BI visualizations provided an interactive and dynamic dashboard that allows stakeholders to explore sales by region, category, and time period, monitor employee performance, and identify high-value customers and top-selling products.</a:t>
            </a:r>
          </a:p>
        </p:txBody>
      </p:sp>
    </p:spTree>
    <p:extLst>
      <p:ext uri="{BB962C8B-B14F-4D97-AF65-F5344CB8AC3E}">
        <p14:creationId xmlns:p14="http://schemas.microsoft.com/office/powerpoint/2010/main" val="90282797"/>
      </p:ext>
    </p:extLst>
  </p:cSld>
  <p:clrMapOvr>
    <a:masterClrMapping/>
  </p:clrMapOvr>
  <mc:AlternateContent xmlns:mc="http://schemas.openxmlformats.org/markup-compatibility/2006" xmlns:p14="http://schemas.microsoft.com/office/powerpoint/2010/main">
    <mc:Choice Requires="p14">
      <p:transition spd="slow" p14:dur="2000" advTm="61899"/>
    </mc:Choice>
    <mc:Fallback xmlns="">
      <p:transition spd="slow" advTm="61899"/>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967</TotalTime>
  <Words>797</Words>
  <Application>Microsoft Office PowerPoint</Application>
  <PresentationFormat>Widescreen</PresentationFormat>
  <Paragraphs>72</Paragraphs>
  <Slides>13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Arial Black</vt:lpstr>
      <vt:lpstr>Corbel</vt:lpstr>
      <vt:lpstr>Parallax</vt:lpstr>
      <vt:lpstr> Northwind Traders Sales Analysis</vt:lpstr>
      <vt:lpstr>About Project</vt:lpstr>
      <vt:lpstr>About  Northwind Traders Quality isn’t just a word, it’s who we 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Saniya Sayyad</dc:creator>
  <cp:lastModifiedBy>Saniya Sayyad</cp:lastModifiedBy>
  <cp:revision>4</cp:revision>
  <dcterms:created xsi:type="dcterms:W3CDTF">2025-10-14T11:02:30Z</dcterms:created>
  <dcterms:modified xsi:type="dcterms:W3CDTF">2025-11-07T16:14:54Z</dcterms:modified>
</cp:coreProperties>
</file>